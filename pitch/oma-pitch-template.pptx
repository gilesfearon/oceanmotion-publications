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194560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om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Ocean Motion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468880"/>
            <a:ext cx="9601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Ocean models, built for
</a:t>
            </a:r>
          </a:p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decisions 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that can't wait</a:t>
            </a:r>
            <a:r>
              <a:rPr sz="5800" b="0" i="0">
                <a:solidFill>
                  <a:srgbClr val="F4EFE3"/>
                </a:solidFill>
                <a:latin typeface="Instrument Serif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3949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00">
                <a:solidFill>
                  <a:srgbClr val="A8E0EA"/>
                </a:solidFill>
                <a:latin typeface="IBM Plex Mono"/>
              </a:rPr>
              <a:t>PITCH DECK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8A94A2"/>
                </a:solidFill>
                <a:latin typeface="IBM Plex Sans"/>
              </a:rPr>
              <a:t>Prepared for [Client]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0" i="0">
                <a:solidFill>
                  <a:srgbClr val="0B1420"/>
                </a:solidFill>
                <a:latin typeface="Instrument Serif"/>
              </a:rPr>
              <a:t>What we'll cover.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9144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01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The problem you're solving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02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How we model it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03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Live forecast — your site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04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What you'd receive, day to day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05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Scope, timeline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83210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6000" b="0" i="0">
                <a:solidFill>
                  <a:srgbClr val="F4EFE3"/>
                </a:solidFill>
                <a:latin typeface="Instrument Serif"/>
              </a:rPr>
              <a:t>How we </a:t>
            </a:r>
            <a:r>
              <a:rPr sz="6000" b="0" i="1">
                <a:solidFill>
                  <a:srgbClr val="FF6A2B"/>
                </a:solidFill>
                <a:latin typeface="Instrument Serif"/>
              </a:rPr>
              <a:t>model</a:t>
            </a:r>
            <a:r>
              <a:rPr sz="6000" b="0" i="0">
                <a:solidFill>
                  <a:srgbClr val="F4EFE3"/>
                </a:solidFill>
                <a:latin typeface="Instrument Serif"/>
              </a:rPr>
              <a:t> your water.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4200" b="0" i="0">
                <a:solidFill>
                  <a:srgbClr val="0B1420"/>
                </a:solidFill>
                <a:latin typeface="Instrument Serif"/>
              </a:rPr>
              <a:t>Physics first, </a:t>
            </a:r>
            <a:r>
              <a:rPr sz="4200" b="0" i="1">
                <a:solidFill>
                  <a:srgbClr val="FF6A2B"/>
                </a:solidFill>
                <a:latin typeface="Instrument Serif"/>
              </a:rPr>
              <a:t>tuned to your site</a:t>
            </a:r>
            <a:r>
              <a:rPr sz="4200" b="0" i="0">
                <a:solidFill>
                  <a:srgbClr val="0B1420"/>
                </a:solidFill>
                <a:latin typeface="Instrument Serif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834640"/>
            <a:ext cx="7680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A regional ocean model nested down to the port, plant or site of interest.</a:t>
            </a:r>
          </a:p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Forced with the best available atmospheric, tidal and boundary data, updated every day.</a:t>
            </a:r>
          </a:p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Outputs framed as the decision you actually make — operability windows, go/no-go, thresholds.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WHAT WE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0" i="0">
                <a:solidFill>
                  <a:srgbClr val="0B1420"/>
                </a:solidFill>
                <a:latin typeface="Instrument Serif"/>
              </a:rPr>
              <a:t>From physics to decisions.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651760"/>
            <a:ext cx="5074920" cy="3108960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507492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297180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180">
                <a:solidFill>
                  <a:srgbClr val="FF6A2B"/>
                </a:solidFill>
                <a:latin typeface="IBM Plex Mono"/>
              </a:rPr>
              <a:t>RECURRING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342900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1420"/>
                </a:solidFill>
                <a:latin typeface="Instrument Serif"/>
              </a:rPr>
              <a:t>We run them every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4206240"/>
            <a:ext cx="4251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4A5665"/>
                </a:solidFill>
                <a:latin typeface="IBM Plex Sans"/>
              </a:rPr>
              <a:t>Regional and hyper-local forecasts at your site, updated daily. Operability windows, go/no-go calls, custom thresholds.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5074920" cy="3108960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73368" y="2651760"/>
            <a:ext cx="507492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8" y="297180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180">
                <a:solidFill>
                  <a:srgbClr val="FF6A2B"/>
                </a:solidFill>
                <a:latin typeface="IBM Plex Mono"/>
              </a:rPr>
              <a:t>ONE-OFF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342900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1420"/>
                </a:solidFill>
                <a:latin typeface="Instrument Serif"/>
              </a:rPr>
              <a:t>We build ocean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4206240"/>
            <a:ext cx="4251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4A5665"/>
                </a:solidFill>
                <a:latin typeface="IBM Plex Sans"/>
              </a:rPr>
              <a:t>Model development, hindcasts, dispersion and transport, design criteria. Each engagement scoped to a specific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0"/>
            <a:ext cx="10515600" cy="685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600" b="0" i="0">
                <a:solidFill>
                  <a:srgbClr val="0B1420"/>
                </a:solidFill>
                <a:latin typeface="Instrument Serif"/>
              </a:rPr>
              <a:t>The people who have to know
what the sea is doing </a:t>
            </a:r>
            <a:r>
              <a:rPr sz="4600" b="0" i="1">
                <a:solidFill>
                  <a:srgbClr val="FF6A2B"/>
                </a:solidFill>
                <a:latin typeface="Instrument Serif"/>
              </a:rPr>
              <a:t>shouldn't
be guessing</a:t>
            </a:r>
            <a:r>
              <a:rPr sz="4600" b="0" i="0">
                <a:solidFill>
                  <a:srgbClr val="0B1420"/>
                </a:solidFill>
                <a:latin typeface="Instrument Serif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7289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640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LIVE FORECAST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0" i="0">
                <a:solidFill>
                  <a:srgbClr val="F4EFE3"/>
                </a:solidFill>
                <a:latin typeface="Instrument Serif"/>
              </a:rPr>
              <a:t>Your site, today.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874519"/>
            <a:ext cx="10515600" cy="4297680"/>
          </a:xfrm>
          <a:prstGeom prst="rect">
            <a:avLst/>
          </a:prstGeom>
          <a:solidFill>
            <a:srgbClr val="13294A"/>
          </a:solidFill>
          <a:ln w="12700">
            <a:solidFill>
              <a:srgbClr val="4FC3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749039"/>
            <a:ext cx="10515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 spc="120">
                <a:solidFill>
                  <a:srgbClr val="A8E0EA"/>
                </a:solidFill>
                <a:latin typeface="IBM Plex Mono"/>
              </a:rPr>
              <a:t>[ REPLACE WITH DASHBOARD SCREENSHOT / RECORDING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WHAT YOU'D RECEIVE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0" i="0">
                <a:solidFill>
                  <a:srgbClr val="F4EFE3"/>
                </a:solidFill>
                <a:latin typeface="Instrument Serif"/>
              </a:rPr>
              <a:t>Every single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FORECAST 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72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LEAD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Your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THRESHOLDS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om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Ocean Motion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286000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56032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600" b="0" i="0">
                <a:solidFill>
                  <a:srgbClr val="F4EFE3"/>
                </a:solidFill>
                <a:latin typeface="Instrument Serif"/>
              </a:rPr>
              <a:t>Tell us what you're
</a:t>
            </a:r>
            <a:r>
              <a:rPr sz="5600" b="0" i="1">
                <a:solidFill>
                  <a:srgbClr val="FF6A2B"/>
                </a:solidFill>
                <a:latin typeface="Instrument Serif"/>
              </a:rPr>
              <a:t>working on</a:t>
            </a:r>
            <a:r>
              <a:rPr sz="5600" b="0" i="0">
                <a:solidFill>
                  <a:srgbClr val="F4EFE3"/>
                </a:solidFill>
                <a:latin typeface="Instrument Serif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93776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F4EFE3"/>
                </a:solidFill>
                <a:latin typeface="IBM Plex Sans"/>
              </a:rPr>
              <a:t>Giles Fearon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8E0EA"/>
                </a:solidFill>
                <a:latin typeface="IBM Plex Mono"/>
              </a:rPr>
              <a:t>giles@oceanmotionanalytics.com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8A94A2"/>
                </a:solidFill>
                <a:latin typeface="IBM Plex Mono"/>
              </a:rPr>
              <a:t>oceanmotionanalytics.com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