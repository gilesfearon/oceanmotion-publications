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1675"/>
  <p:notesSz cx="6858000" cy="9144000"/>
  <p:embeddedFontLst>
    <p:embeddedFont>
      <p:font typeface="IBM Plex Sans"/>
      <p:regular r:id="rId25"/>
      <p:bold r:id="rId26"/>
      <p:italic r:id="rId27"/>
      <p:boldItalic r:id="rId28"/>
    </p:embeddedFont>
    <p:embeddedFont>
      <p:font typeface="Instrument Serif"/>
      <p:regular r:id="rId29"/>
      <p:italic r:id="rId30"/>
    </p:embeddedFont>
    <p:embeddedFont>
      <p:font typeface="IBM Plex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gs/XFmLkInO+QsD03l7ODC+YuH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BMPlexSans-bold.fntdata"/><Relationship Id="rId25" Type="http://schemas.openxmlformats.org/officeDocument/2006/relationships/font" Target="fonts/IBMPlexSans-regular.fntdata"/><Relationship Id="rId28" Type="http://schemas.openxmlformats.org/officeDocument/2006/relationships/font" Target="fonts/IBMPlexSans-boldItalic.fntdata"/><Relationship Id="rId27" Type="http://schemas.openxmlformats.org/officeDocument/2006/relationships/font" Target="fonts/IBMPlex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strumentSerif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Mono-regular.fntdata"/><Relationship Id="rId30" Type="http://schemas.openxmlformats.org/officeDocument/2006/relationships/font" Target="fonts/InstrumentSerif-italic.fntdata"/><Relationship Id="rId11" Type="http://schemas.openxmlformats.org/officeDocument/2006/relationships/slide" Target="slides/slide5.xml"/><Relationship Id="rId33" Type="http://schemas.openxmlformats.org/officeDocument/2006/relationships/font" Target="fonts/IBMPlexMono-italic.fntdata"/><Relationship Id="rId10" Type="http://schemas.openxmlformats.org/officeDocument/2006/relationships/slide" Target="slides/slide4.xml"/><Relationship Id="rId32" Type="http://schemas.openxmlformats.org/officeDocument/2006/relationships/font" Target="fonts/IBMPlexMono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IBMPlexMon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be5dd7b3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fbe5dd7b32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strument Serif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strument Serif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strument Serif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strument Serif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be5dd7b32_0_1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fbe5dd7b32_0_1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fbe5dd7b32_0_1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e5dd7b32_0_120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fbe5dd7b32_0_1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3fbe5dd7b32_0_1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fbe5dd7b32_0_1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fbe5dd7b32_0_1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e5dd7b32_0_1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fbe5dd7b32_0_12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fbe5dd7b32_0_1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fbe5dd7b32_0_1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fbe5dd7b32_0_1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be5dd7b32_0_132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strument Serif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fbe5dd7b32_0_132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fbe5dd7b32_0_1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fbe5dd7b32_0_1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fbe5dd7b32_0_1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be5dd7b32_0_1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fbe5dd7b32_0_13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g3fbe5dd7b32_0_13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g3fbe5dd7b32_0_13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fbe5dd7b32_0_13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fbe5dd7b32_0_13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be5dd7b32_0_1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strument Serif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fbe5dd7b32_0_145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fbe5dd7b32_0_145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g3fbe5dd7b32_0_145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fbe5dd7b32_0_145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g3fbe5dd7b32_0_14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fbe5dd7b32_0_14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fbe5dd7b32_0_14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be5dd7b32_0_1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fbe5dd7b32_0_15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fbe5dd7b32_0_15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fbe5dd7b32_0_15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be5dd7b32_0_15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strument Serif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fbe5dd7b32_0_15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3fbe5dd7b32_0_15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g3fbe5dd7b32_0_15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fbe5dd7b32_0_15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fbe5dd7b32_0_15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e5dd7b32_0_166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strument Serif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fbe5dd7b32_0_16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fbe5dd7b32_0_166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g3fbe5dd7b32_0_16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fbe5dd7b32_0_16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fbe5dd7b32_0_16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be5dd7b32_0_1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fbe5dd7b32_0_17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fbe5dd7b32_0_17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fbe5dd7b32_0_17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fbe5dd7b32_0_17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be5dd7b32_0_179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fbe5dd7b32_0_179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fbe5dd7b32_0_17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fbe5dd7b32_0_17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fbe5dd7b32_0_17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strument Serif"/>
              <a:buNone/>
              <a:defRPr b="0" i="0" sz="4400" u="none" cap="none" strike="noStrike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e5dd7b32_0_1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strument Serif"/>
              <a:buNone/>
              <a:defRPr b="0" i="0" sz="4400" u="none" cap="none" strike="noStrike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g3fbe5dd7b32_0_11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3" name="Google Shape;83;g3fbe5dd7b32_0_1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4" name="Google Shape;84;g3fbe5dd7b32_0_1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5" name="Google Shape;85;g3fbe5dd7b32_0_1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ro-streamlines.png" id="159" name="Google Shape;15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"/>
          <p:cNvSpPr/>
          <p:nvPr/>
        </p:nvSpPr>
        <p:spPr>
          <a:xfrm>
            <a:off x="841248" y="2194560"/>
            <a:ext cx="1463040" cy="254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om-mark-dark.png" id="161" name="Google Shape;16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528" y="61264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"/>
          <p:cNvSpPr txBox="1"/>
          <p:nvPr/>
        </p:nvSpPr>
        <p:spPr>
          <a:xfrm>
            <a:off x="1261872" y="6400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</a:t>
            </a:r>
            <a:r>
              <a:rPr b="0" i="0" lang="en-US" sz="2200" u="none" cap="none" strike="noStrike">
                <a:solidFill>
                  <a:srgbClr val="ED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</a:t>
            </a:r>
            <a:r>
              <a:rPr b="0" i="0" lang="en-US" sz="2200" u="none" cap="none" strike="noStrike">
                <a:solidFill>
                  <a:srgbClr val="E6EC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</a:t>
            </a:r>
            <a:r>
              <a:rPr b="0" i="0" lang="en-US" sz="2200" u="none" cap="none" strike="noStrike">
                <a:solidFill>
                  <a:srgbClr val="DFEBE5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</a:t>
            </a:r>
            <a:r>
              <a:rPr b="0" i="0" lang="en-US" sz="2200" u="none" cap="none" strike="noStrike">
                <a:solidFill>
                  <a:srgbClr val="D8EA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</a:t>
            </a:r>
            <a:r>
              <a:rPr b="0" i="0" lang="en-US" sz="2200" u="none" cap="none" strike="noStrike">
                <a:solidFill>
                  <a:srgbClr val="D1E8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b="0" i="0" lang="en-US" sz="2200" u="none" cap="none" strike="noStrike">
                <a:solidFill>
                  <a:srgbClr val="CBE7E7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</a:t>
            </a:r>
            <a:r>
              <a:rPr b="0" i="0" lang="en-US" sz="2200" u="none" cap="none" strike="noStrike">
                <a:solidFill>
                  <a:srgbClr val="C4E5E7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</a:t>
            </a:r>
            <a:r>
              <a:rPr b="0" i="0" lang="en-US" sz="2200" u="none" cap="none" strike="noStrike">
                <a:solidFill>
                  <a:srgbClr val="BDE4E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</a:t>
            </a:r>
            <a:r>
              <a:rPr b="0" i="0" lang="en-US" sz="2200" u="none" cap="none" strike="noStrike">
                <a:solidFill>
                  <a:srgbClr val="B6E3E9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</a:t>
            </a:r>
            <a:r>
              <a:rPr b="0" i="0" lang="en-US" sz="2200" u="none" cap="none" strike="noStrike">
                <a:solidFill>
                  <a:srgbClr val="AFE1E9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</a:t>
            </a:r>
            <a:r>
              <a:rPr b="0" i="0" lang="en-US" sz="2200" u="none" cap="none" strike="noStrike">
                <a:solidFill>
                  <a:srgbClr val="A8E0E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 </a:t>
            </a:r>
            <a:r>
              <a:rPr b="0" i="0" lang="en-US" sz="1000" u="none" cap="none" strike="noStrike">
                <a:solidFill>
                  <a:srgbClr val="A8E0EA"/>
                </a:solidFill>
                <a:latin typeface="IBM Plex Mono"/>
                <a:ea typeface="IBM Plex Mono"/>
                <a:cs typeface="IBM Plex Mono"/>
                <a:sym typeface="IBM Plex Mono"/>
              </a:rPr>
              <a:t>ANALYTICS</a:t>
            </a:r>
            <a:endParaRPr/>
          </a:p>
        </p:txBody>
      </p:sp>
      <p:sp>
        <p:nvSpPr>
          <p:cNvPr id="163" name="Google Shape;163;p1"/>
          <p:cNvSpPr txBox="1"/>
          <p:nvPr/>
        </p:nvSpPr>
        <p:spPr>
          <a:xfrm>
            <a:off x="841248" y="2468880"/>
            <a:ext cx="96012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</a:t>
            </a:r>
            <a:r>
              <a:rPr b="0" i="0" lang="en-US" sz="58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ater quality</a:t>
            </a:r>
            <a:r>
              <a:rPr b="0" i="0" lang="en-US" sz="58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for your plants</a:t>
            </a:r>
            <a:r>
              <a:rPr lang="en-US" sz="58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:</a:t>
            </a:r>
            <a:r>
              <a:rPr b="0" i="0" lang="en-US" sz="58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br>
              <a:rPr b="0" i="0" lang="en-US" sz="58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</a:br>
            <a:r>
              <a:rPr lang="en-US" sz="58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past, present and future</a:t>
            </a:r>
            <a:endParaRPr/>
          </a:p>
        </p:txBody>
      </p:sp>
      <p:sp>
        <p:nvSpPr>
          <p:cNvPr id="164" name="Google Shape;164;p1"/>
          <p:cNvSpPr txBox="1"/>
          <p:nvPr/>
        </p:nvSpPr>
        <p:spPr>
          <a:xfrm>
            <a:off x="841248" y="539496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A8E0EA"/>
                </a:solidFill>
                <a:latin typeface="IBM Plex Mono"/>
                <a:ea typeface="IBM Plex Mono"/>
                <a:cs typeface="IBM Plex Mono"/>
                <a:sym typeface="IBM Plex Mono"/>
              </a:rPr>
              <a:t>PITCH DECK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8A94A2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Prepared for </a:t>
            </a:r>
            <a:r>
              <a:rPr lang="en-US">
                <a:solidFill>
                  <a:srgbClr val="8A94A2"/>
                </a:solidFill>
                <a:latin typeface="IBM Plex Sans"/>
                <a:ea typeface="IBM Plex Sans"/>
                <a:cs typeface="IBM Plex Sans"/>
                <a:sym typeface="IBM Plex Sans"/>
              </a:rPr>
              <a:t>Engie</a:t>
            </a:r>
            <a:r>
              <a:rPr b="0" i="0" lang="en-US" sz="1400">
                <a:solidFill>
                  <a:srgbClr val="8A94A2"/>
                </a:solidFill>
                <a:latin typeface="IBM Plex Sans"/>
                <a:ea typeface="IBM Plex Sans"/>
                <a:cs typeface="IBM Plex Sans"/>
                <a:sym typeface="IBM Plex Sans"/>
              </a:rPr>
              <a:t>  ·  September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841248" y="95758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1371600" y="8686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CONTENTS</a:t>
            </a:r>
            <a:endParaRPr/>
          </a:p>
        </p:txBody>
      </p:sp>
      <p:sp>
        <p:nvSpPr>
          <p:cNvPr id="172" name="Google Shape;172;p2"/>
          <p:cNvSpPr txBox="1"/>
          <p:nvPr/>
        </p:nvSpPr>
        <p:spPr>
          <a:xfrm>
            <a:off x="841248" y="128016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we'll cover.</a:t>
            </a:r>
            <a:endParaRPr/>
          </a:p>
        </p:txBody>
      </p:sp>
      <p:sp>
        <p:nvSpPr>
          <p:cNvPr id="173" name="Google Shape;173;p2"/>
          <p:cNvSpPr txBox="1"/>
          <p:nvPr/>
        </p:nvSpPr>
        <p:spPr>
          <a:xfrm>
            <a:off x="841248" y="2651760"/>
            <a:ext cx="91440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6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r>
              <a:rPr b="0" i="0" lang="en-US" sz="220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How </a:t>
            </a:r>
            <a:r>
              <a:rPr lang="en-US" sz="220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</a:t>
            </a:r>
            <a:r>
              <a:rPr b="0" i="0" lang="en-US" sz="220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odel </a:t>
            </a:r>
            <a:r>
              <a:rPr lang="en-US" sz="220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works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6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0</a:t>
            </a:r>
            <a:r>
              <a:rPr lang="en-US" sz="1500">
                <a:solidFill>
                  <a:srgbClr val="FF6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r>
              <a:rPr b="0" i="0" lang="en-US" sz="220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Characterising your site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6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0</a:t>
            </a:r>
            <a:r>
              <a:rPr lang="en-US" sz="1500">
                <a:solidFill>
                  <a:srgbClr val="FF6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r>
              <a:rPr b="0" i="0" lang="en-US" sz="220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A forecast that runs every day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6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0</a:t>
            </a:r>
            <a:r>
              <a:rPr lang="en-US" sz="1500">
                <a:solidFill>
                  <a:srgbClr val="FF6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  <a:r>
              <a:rPr b="0" i="0" lang="en-US" sz="220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The next thirty years and beyond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50F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41248" y="2832100"/>
            <a:ext cx="384048" cy="15240"/>
          </a:xfrm>
          <a:prstGeom prst="rect">
            <a:avLst/>
          </a:prstGeom>
          <a:solidFill>
            <a:srgbClr val="4FC3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1371600" y="2743200"/>
            <a:ext cx="54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FC3D7"/>
                </a:solidFill>
                <a:latin typeface="IBM Plex Mono"/>
                <a:ea typeface="IBM Plex Mono"/>
                <a:cs typeface="IBM Plex Mono"/>
                <a:sym typeface="IBM Plex Mono"/>
              </a:rPr>
              <a:t>SECTION 01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841248" y="3200400"/>
            <a:ext cx="104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the model works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931164" y="384048"/>
            <a:ext cx="841200" cy="279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931164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INPUTS</a:t>
            </a:r>
            <a:endParaRPr sz="800">
              <a:solidFill>
                <a:srgbClr val="8A94A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973580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1973580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GRID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3015996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3015996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CIRCULATION</a:t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058412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4058412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WAVES</a:t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5100828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5100828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TURBIDITY</a:t>
            </a:r>
            <a:endParaRPr/>
          </a:p>
        </p:txBody>
      </p:sp>
      <p:sp>
        <p:nvSpPr>
          <p:cNvPr id="197" name="Google Shape;197;p9"/>
          <p:cNvSpPr txBox="1"/>
          <p:nvPr/>
        </p:nvSpPr>
        <p:spPr>
          <a:xfrm>
            <a:off x="841250" y="1051549"/>
            <a:ext cx="39684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Upstream data providers.</a:t>
            </a:r>
            <a:endParaRPr/>
          </a:p>
        </p:txBody>
      </p:sp>
      <p:pic>
        <p:nvPicPr>
          <p:cNvPr descr="chain-3a-door.png" id="198" name="Google Shape;1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3445" y="258290"/>
            <a:ext cx="3321139" cy="2788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in-3b-ocean.png" id="199" name="Google Shape;1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3454" y="3084329"/>
            <a:ext cx="3566160" cy="204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in-3c-tide.png" id="200" name="Google Shape;20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3454" y="5370066"/>
            <a:ext cx="3566160" cy="132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in-3d-waves.png" id="201" name="Google Shape;20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5788" y="4023350"/>
            <a:ext cx="2493078" cy="2493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in-2-atmosphere.png" id="202" name="Google Shape;20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43778" y="1134438"/>
            <a:ext cx="2797100" cy="234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/>
          <p:nvPr/>
        </p:nvSpPr>
        <p:spPr>
          <a:xfrm>
            <a:off x="841248" y="3077694"/>
            <a:ext cx="384000" cy="15300"/>
          </a:xfrm>
          <a:prstGeom prst="rect">
            <a:avLst/>
          </a:prstGeom>
          <a:solidFill>
            <a:srgbClr val="4A56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1371600" y="2988794"/>
            <a:ext cx="274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GLOBAL MODELS</a:t>
            </a:r>
            <a:endParaRPr/>
          </a:p>
        </p:txBody>
      </p:sp>
      <p:sp>
        <p:nvSpPr>
          <p:cNvPr id="205" name="Google Shape;205;p9"/>
          <p:cNvSpPr txBox="1"/>
          <p:nvPr/>
        </p:nvSpPr>
        <p:spPr>
          <a:xfrm>
            <a:off x="841248" y="3482570"/>
            <a:ext cx="3017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ATMOSPHERICS</a:t>
            </a:r>
            <a:endParaRPr sz="1100"/>
          </a:p>
        </p:txBody>
      </p:sp>
      <p:sp>
        <p:nvSpPr>
          <p:cNvPr id="206" name="Google Shape;206;p9"/>
          <p:cNvSpPr txBox="1"/>
          <p:nvPr/>
        </p:nvSpPr>
        <p:spPr>
          <a:xfrm>
            <a:off x="841248" y="3670821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ERA5 / GFS</a:t>
            </a:r>
            <a:br>
              <a:rPr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0.25 deg  ·  1-3 hourly</a:t>
            </a:r>
            <a:endParaRPr/>
          </a:p>
        </p:txBody>
      </p:sp>
      <p:sp>
        <p:nvSpPr>
          <p:cNvPr id="207" name="Google Shape;207;p9"/>
          <p:cNvSpPr txBox="1"/>
          <p:nvPr/>
        </p:nvSpPr>
        <p:spPr>
          <a:xfrm>
            <a:off x="841248" y="4049498"/>
            <a:ext cx="3017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OCEAN </a:t>
            </a:r>
            <a:r>
              <a:rPr b="0" i="0" lang="en-US" sz="110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CIRCULATION</a:t>
            </a:r>
            <a:r>
              <a:rPr lang="en-US" sz="110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sz="800"/>
          </a:p>
        </p:txBody>
      </p:sp>
      <p:sp>
        <p:nvSpPr>
          <p:cNvPr id="208" name="Google Shape;208;p9"/>
          <p:cNvSpPr txBox="1"/>
          <p:nvPr/>
        </p:nvSpPr>
        <p:spPr>
          <a:xfrm>
            <a:off x="841248" y="4245206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MERCATOR / HYCOM</a:t>
            </a:r>
            <a:endParaRPr sz="800">
              <a:solidFill>
                <a:srgbClr val="8A94A2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1/12 deg  ·  daily</a:t>
            </a:r>
            <a:endParaRPr/>
          </a:p>
        </p:txBody>
      </p:sp>
      <p:sp>
        <p:nvSpPr>
          <p:cNvPr id="209" name="Google Shape;209;p9"/>
          <p:cNvSpPr txBox="1"/>
          <p:nvPr/>
        </p:nvSpPr>
        <p:spPr>
          <a:xfrm>
            <a:off x="841248" y="4616426"/>
            <a:ext cx="3017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TIDES</a:t>
            </a:r>
            <a:endParaRPr sz="1100"/>
          </a:p>
        </p:txBody>
      </p:sp>
      <p:sp>
        <p:nvSpPr>
          <p:cNvPr id="210" name="Google Shape;210;p9"/>
          <p:cNvSpPr txBox="1"/>
          <p:nvPr/>
        </p:nvSpPr>
        <p:spPr>
          <a:xfrm>
            <a:off x="853698" y="4813056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TPXO10</a:t>
            </a:r>
            <a:endParaRPr b="0" i="0" sz="800">
              <a:solidFill>
                <a:srgbClr val="8A94A2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0 tidal constituents</a:t>
            </a: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841248" y="5183354"/>
            <a:ext cx="3017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WAVES</a:t>
            </a:r>
            <a:endParaRPr sz="800"/>
          </a:p>
        </p:txBody>
      </p:sp>
      <p:sp>
        <p:nvSpPr>
          <p:cNvPr id="212" name="Google Shape;212;p9"/>
          <p:cNvSpPr txBox="1"/>
          <p:nvPr/>
        </p:nvSpPr>
        <p:spPr>
          <a:xfrm>
            <a:off x="872748" y="5406735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METEO FRANCE / GFS</a:t>
            </a:r>
            <a:endParaRPr sz="800">
              <a:solidFill>
                <a:srgbClr val="8A94A2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0.1-0.25 deg  ·  3 hourly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841248" y="932688"/>
            <a:ext cx="43890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Model grid is</a:t>
            </a:r>
            <a:r>
              <a:rPr b="0" i="0"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refined until the site</a:t>
            </a:r>
            <a:r>
              <a:rPr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b="0" i="0"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is </a:t>
            </a:r>
            <a:r>
              <a:rPr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resolved.</a:t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6250700" y="1094740"/>
            <a:ext cx="384000" cy="15300"/>
          </a:xfrm>
          <a:prstGeom prst="rect">
            <a:avLst/>
          </a:prstGeom>
          <a:solidFill>
            <a:srgbClr val="4A56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6781052" y="1005840"/>
            <a:ext cx="539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 GRID</a:t>
            </a:r>
            <a:endParaRPr/>
          </a:p>
        </p:txBody>
      </p:sp>
      <p:sp>
        <p:nvSpPr>
          <p:cNvPr id="221" name="Google Shape;221;p10"/>
          <p:cNvSpPr txBox="1"/>
          <p:nvPr/>
        </p:nvSpPr>
        <p:spPr>
          <a:xfrm>
            <a:off x="6250700" y="1389888"/>
            <a:ext cx="53949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PARENT  ~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3 km  ·  15 levels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NEST    ~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1 km  ·  3x refinement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 option for further refinement as required</a:t>
            </a:r>
            <a:endParaRPr sz="1000">
              <a:solidFill>
                <a:srgbClr val="4A5665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descr="chain-4-grid.png" id="222" name="Google Shape;2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3145536"/>
            <a:ext cx="10515600" cy="311086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0"/>
          <p:cNvSpPr txBox="1"/>
          <p:nvPr/>
        </p:nvSpPr>
        <p:spPr>
          <a:xfrm>
            <a:off x="1257300" y="26700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whole Gulf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1257300" y="2889504"/>
            <a:ext cx="274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~</a:t>
            </a: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3 km  ·  every 4th line</a:t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4727448" y="2670048"/>
            <a:ext cx="2743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southern shelf</a:t>
            </a:r>
            <a:r>
              <a:rPr lang="en-US" sz="115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 zoom</a:t>
            </a:r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4727448" y="2889504"/>
            <a:ext cx="274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~</a:t>
            </a: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3 km  ·  every cell</a:t>
            </a:r>
            <a:endParaRPr/>
          </a:p>
        </p:txBody>
      </p:sp>
      <p:sp>
        <p:nvSpPr>
          <p:cNvPr id="227" name="Google Shape;227;p10"/>
          <p:cNvSpPr txBox="1"/>
          <p:nvPr/>
        </p:nvSpPr>
        <p:spPr>
          <a:xfrm>
            <a:off x="8197596" y="2670048"/>
            <a:ext cx="2743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example</a:t>
            </a:r>
            <a:r>
              <a:rPr b="0" i="0" lang="en-US" sz="1150">
                <a:solidFill>
                  <a:srgbClr val="0B1420"/>
                </a:solidFill>
                <a:latin typeface="IBM Plex Sans"/>
                <a:ea typeface="IBM Plex Sans"/>
                <a:cs typeface="IBM Plex Sans"/>
                <a:sym typeface="IBM Plex Sans"/>
              </a:rPr>
              <a:t> of a nested grid</a:t>
            </a:r>
            <a:endParaRPr/>
          </a:p>
        </p:txBody>
      </p:sp>
      <p:sp>
        <p:nvSpPr>
          <p:cNvPr id="228" name="Google Shape;228;p10"/>
          <p:cNvSpPr txBox="1"/>
          <p:nvPr/>
        </p:nvSpPr>
        <p:spPr>
          <a:xfrm>
            <a:off x="8197596" y="2889504"/>
            <a:ext cx="274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~</a:t>
            </a: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1 km  ·  every cell</a:t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931164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931164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INPUTS</a:t>
            </a:r>
            <a:endParaRPr sz="800">
              <a:solidFill>
                <a:srgbClr val="8A94A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1973580" y="384048"/>
            <a:ext cx="841200" cy="279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1973580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GRID</a:t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3015996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3015996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CIRCULATION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4058412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4058412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WAVES</a:t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5100828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8" name="Google Shape;238;p10"/>
          <p:cNvSpPr txBox="1"/>
          <p:nvPr/>
        </p:nvSpPr>
        <p:spPr>
          <a:xfrm>
            <a:off x="5100828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TURBIDITY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841902" y="2645268"/>
            <a:ext cx="384000" cy="15300"/>
          </a:xfrm>
          <a:prstGeom prst="rect">
            <a:avLst/>
          </a:prstGeom>
          <a:solidFill>
            <a:srgbClr val="4A56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1372254" y="2556368"/>
            <a:ext cx="310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CIRCULATION MODEL</a:t>
            </a:r>
            <a:endParaRPr/>
          </a:p>
        </p:txBody>
      </p:sp>
      <p:sp>
        <p:nvSpPr>
          <p:cNvPr id="246" name="Google Shape;246;p11"/>
          <p:cNvSpPr txBox="1"/>
          <p:nvPr/>
        </p:nvSpPr>
        <p:spPr>
          <a:xfrm>
            <a:off x="841902" y="2940416"/>
            <a:ext cx="31089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CROCO v1.3.1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SOLVES  </a:t>
            </a:r>
            <a:r>
              <a:rPr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temperature, salinity, </a:t>
            </a:r>
            <a:br>
              <a:rPr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 currents,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water level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LEVELS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  <a:r>
              <a:rPr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 levels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OUTPUT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hourly, every level</a:t>
            </a:r>
            <a:endParaRPr/>
          </a:p>
        </p:txBody>
      </p:sp>
      <p:pic>
        <p:nvPicPr>
          <p:cNvPr descr="chain-5-circulation.png" id="247" name="Google Shape;2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0149" y="1224399"/>
            <a:ext cx="3982144" cy="3344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in-5-block.png" id="248" name="Google Shape;248;p11"/>
          <p:cNvPicPr preferRelativeResize="0"/>
          <p:nvPr/>
        </p:nvPicPr>
        <p:blipFill rotWithShape="1">
          <a:blip r:embed="rId4">
            <a:alphaModFix/>
          </a:blip>
          <a:srcRect b="0" l="10642" r="0" t="0"/>
          <a:stretch/>
        </p:blipFill>
        <p:spPr>
          <a:xfrm>
            <a:off x="7575500" y="670647"/>
            <a:ext cx="4616198" cy="34223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in-5a-sst.png" id="249" name="Google Shape;249;p11"/>
          <p:cNvPicPr preferRelativeResize="0"/>
          <p:nvPr/>
        </p:nvPicPr>
        <p:blipFill rotWithShape="1">
          <a:blip r:embed="rId5">
            <a:alphaModFix/>
          </a:blip>
          <a:srcRect b="8767" l="0" r="0" t="3128"/>
          <a:stretch/>
        </p:blipFill>
        <p:spPr>
          <a:xfrm>
            <a:off x="770150" y="4568400"/>
            <a:ext cx="11136051" cy="222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931164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931164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INPUTS</a:t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1973580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1973580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GRID</a:t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3015996" y="384048"/>
            <a:ext cx="841200" cy="279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3015996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CIRCULATION</a:t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4058412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4058412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WAVES</a:t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5100828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5100828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TURBIDITY</a:t>
            </a:r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841250" y="868950"/>
            <a:ext cx="33459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the circulation changes over time.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hain-6-waves.png" id="266" name="Google Shape;2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3800" y="2222875"/>
            <a:ext cx="5519648" cy="4635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in-6a-hs.png" id="267" name="Google Shape;26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33541" y="41570"/>
            <a:ext cx="4635125" cy="463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/>
        </p:nvSpPr>
        <p:spPr>
          <a:xfrm>
            <a:off x="841248" y="875607"/>
            <a:ext cx="41604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the w</a:t>
            </a:r>
            <a:r>
              <a:rPr b="0" i="0"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aves change over time.</a:t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841248" y="370078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0" name="Google Shape;270;p12"/>
          <p:cNvSpPr txBox="1"/>
          <p:nvPr/>
        </p:nvSpPr>
        <p:spPr>
          <a:xfrm>
            <a:off x="1371600" y="3611880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WAVE MODEL</a:t>
            </a:r>
            <a:endParaRPr/>
          </a:p>
        </p:txBody>
      </p:sp>
      <p:sp>
        <p:nvSpPr>
          <p:cNvPr id="271" name="Google Shape;271;p12"/>
          <p:cNvSpPr txBox="1"/>
          <p:nvPr/>
        </p:nvSpPr>
        <p:spPr>
          <a:xfrm>
            <a:off x="841248" y="3995928"/>
            <a:ext cx="41604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WAVEWATCH III v6.07.1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SPECTRUM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32 frequencies x 24 dir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FORCED BY  </a:t>
            </a:r>
            <a:r>
              <a:rPr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Global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 winds + CROCO currents</a:t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931164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3" name="Google Shape;273;p12"/>
          <p:cNvSpPr txBox="1"/>
          <p:nvPr/>
        </p:nvSpPr>
        <p:spPr>
          <a:xfrm>
            <a:off x="931164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INPUTS</a:t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1973580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1973580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GRID</a:t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3015996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3015996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CIRCULATION</a:t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4058412" y="384048"/>
            <a:ext cx="841200" cy="279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4058412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WAVES</a:t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5100828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5100828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TURBIDITY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7" name="Google Shape;287;p13"/>
          <p:cNvSpPr txBox="1"/>
          <p:nvPr/>
        </p:nvSpPr>
        <p:spPr>
          <a:xfrm>
            <a:off x="841250" y="896100"/>
            <a:ext cx="65538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</a:t>
            </a:r>
            <a:r>
              <a:rPr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urbidity - driven by a combination of wave- and current-driven bed stress.</a:t>
            </a:r>
            <a:endParaRPr/>
          </a:p>
        </p:txBody>
      </p:sp>
      <p:pic>
        <p:nvPicPr>
          <p:cNvPr descr="chain-7b-process.png" id="288" name="Google Shape;2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725" y="1976251"/>
            <a:ext cx="10739909" cy="488174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3"/>
          <p:cNvSpPr txBox="1"/>
          <p:nvPr/>
        </p:nvSpPr>
        <p:spPr>
          <a:xfrm>
            <a:off x="2574058" y="4182396"/>
            <a:ext cx="237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4FC3D7"/>
                </a:solidFill>
                <a:latin typeface="IBM Plex Sans"/>
                <a:ea typeface="IBM Plex Sans"/>
                <a:cs typeface="IBM Plex Sans"/>
                <a:sym typeface="IBM Plex Sans"/>
              </a:rPr>
              <a:t>wave</a:t>
            </a:r>
            <a:r>
              <a:rPr b="1" lang="en-US" sz="1300">
                <a:solidFill>
                  <a:srgbClr val="4FC3D7"/>
                </a:solidFill>
                <a:latin typeface="IBM Plex Sans"/>
                <a:ea typeface="IBM Plex Sans"/>
                <a:cs typeface="IBM Plex Sans"/>
                <a:sym typeface="IBM Plex Sans"/>
              </a:rPr>
              <a:t>-driven </a:t>
            </a:r>
            <a:br>
              <a:rPr b="1" lang="en-US" sz="1300">
                <a:solidFill>
                  <a:srgbClr val="4FC3D7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b="1" lang="en-US" sz="1300">
                <a:solidFill>
                  <a:srgbClr val="4FC3D7"/>
                </a:solidFill>
                <a:latin typeface="IBM Plex Sans"/>
                <a:ea typeface="IBM Plex Sans"/>
                <a:cs typeface="IBM Plex Sans"/>
                <a:sym typeface="IBM Plex Sans"/>
              </a:rPr>
              <a:t>orbital velocities</a:t>
            </a: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7286272" y="4582608"/>
            <a:ext cx="2377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91C33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currents</a:t>
            </a:r>
            <a:endParaRPr/>
          </a:p>
        </p:txBody>
      </p:sp>
      <p:sp>
        <p:nvSpPr>
          <p:cNvPr id="291" name="Google Shape;291;p13"/>
          <p:cNvSpPr txBox="1"/>
          <p:nvPr/>
        </p:nvSpPr>
        <p:spPr>
          <a:xfrm>
            <a:off x="4744326" y="4958596"/>
            <a:ext cx="110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wave-driven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bed stress</a:t>
            </a:r>
            <a:endParaRPr/>
          </a:p>
        </p:txBody>
      </p:sp>
      <p:sp>
        <p:nvSpPr>
          <p:cNvPr id="292" name="Google Shape;292;p13"/>
          <p:cNvSpPr txBox="1"/>
          <p:nvPr/>
        </p:nvSpPr>
        <p:spPr>
          <a:xfrm>
            <a:off x="7286272" y="5208510"/>
            <a:ext cx="165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current-driven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bed stress</a:t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931164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931164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INPUTS</a:t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1973580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6" name="Google Shape;296;p13"/>
          <p:cNvSpPr txBox="1"/>
          <p:nvPr/>
        </p:nvSpPr>
        <p:spPr>
          <a:xfrm>
            <a:off x="1973580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GRID</a:t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3015996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3015996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CIRCULATION</a:t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4058412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0" name="Google Shape;300;p13"/>
          <p:cNvSpPr txBox="1"/>
          <p:nvPr/>
        </p:nvSpPr>
        <p:spPr>
          <a:xfrm>
            <a:off x="4058412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WAVES</a:t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5100828" y="384048"/>
            <a:ext cx="841200" cy="279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2" name="Google Shape;302;p13"/>
          <p:cNvSpPr txBox="1"/>
          <p:nvPr/>
        </p:nvSpPr>
        <p:spPr>
          <a:xfrm>
            <a:off x="5100828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TURBIDITY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8" name="Google Shape;308;p14"/>
          <p:cNvSpPr txBox="1"/>
          <p:nvPr/>
        </p:nvSpPr>
        <p:spPr>
          <a:xfrm>
            <a:off x="841248" y="896112"/>
            <a:ext cx="4937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Past a critical bed stress threshold, the be</a:t>
            </a:r>
            <a:r>
              <a:rPr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 lets go.</a:t>
            </a:r>
            <a:endParaRPr/>
          </a:p>
        </p:txBody>
      </p:sp>
      <p:pic>
        <p:nvPicPr>
          <p:cNvPr descr="chain-7d-erosion.png" id="309" name="Google Shape;3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725" y="1993401"/>
            <a:ext cx="10702181" cy="4864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4"/>
          <p:cNvSpPr/>
          <p:nvPr/>
        </p:nvSpPr>
        <p:spPr>
          <a:xfrm>
            <a:off x="7589520" y="627888"/>
            <a:ext cx="384000" cy="15300"/>
          </a:xfrm>
          <a:prstGeom prst="rect">
            <a:avLst/>
          </a:prstGeom>
          <a:solidFill>
            <a:srgbClr val="4A56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1" name="Google Shape;311;p14"/>
          <p:cNvSpPr txBox="1"/>
          <p:nvPr/>
        </p:nvSpPr>
        <p:spPr>
          <a:xfrm>
            <a:off x="8119872" y="538988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CALIBRATION PARAMETERS</a:t>
            </a:r>
            <a:endParaRPr/>
          </a:p>
        </p:txBody>
      </p:sp>
      <p:sp>
        <p:nvSpPr>
          <p:cNvPr id="312" name="Google Shape;312;p14"/>
          <p:cNvSpPr txBox="1"/>
          <p:nvPr/>
        </p:nvSpPr>
        <p:spPr>
          <a:xfrm>
            <a:off x="7589520" y="923036"/>
            <a:ext cx="42063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CLASSES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two, solved together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fine ≈ 22 µm  ·  coarse ≈ 64 µm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CRITICAL STRESS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0.10 / 0.25 N/m²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SETTLING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2e-4 / 2e-3 m/s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EROSION RATE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3e-4 / 3e-3 NTU·m/s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BACKGROUND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3 NTU</a:t>
            </a:r>
            <a:endParaRPr/>
          </a:p>
        </p:txBody>
      </p:sp>
      <p:sp>
        <p:nvSpPr>
          <p:cNvPr id="313" name="Google Shape;313;p14"/>
          <p:cNvSpPr txBox="1"/>
          <p:nvPr/>
        </p:nvSpPr>
        <p:spPr>
          <a:xfrm>
            <a:off x="8503914" y="4385386"/>
            <a:ext cx="2377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8A6A1C"/>
                </a:solidFill>
                <a:latin typeface="IBM Plex Sans"/>
                <a:ea typeface="IBM Plex Sans"/>
                <a:cs typeface="IBM Plex Sans"/>
                <a:sym typeface="IBM Plex Sans"/>
              </a:rPr>
              <a:t>suspended sediment 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8A6A1C"/>
                </a:solidFill>
                <a:latin typeface="IBM Plex Sans"/>
                <a:ea typeface="IBM Plex Sans"/>
                <a:cs typeface="IBM Plex Sans"/>
                <a:sym typeface="IBM Plex Sans"/>
              </a:rPr>
              <a:t>most of it near the bed</a:t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931164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5" name="Google Shape;315;p14"/>
          <p:cNvSpPr txBox="1"/>
          <p:nvPr/>
        </p:nvSpPr>
        <p:spPr>
          <a:xfrm>
            <a:off x="931164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INPUTS</a:t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1973580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7" name="Google Shape;317;p14"/>
          <p:cNvSpPr txBox="1"/>
          <p:nvPr/>
        </p:nvSpPr>
        <p:spPr>
          <a:xfrm>
            <a:off x="1973580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GRID</a:t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3015996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9" name="Google Shape;319;p14"/>
          <p:cNvSpPr txBox="1"/>
          <p:nvPr/>
        </p:nvSpPr>
        <p:spPr>
          <a:xfrm>
            <a:off x="3015996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CIRCULATION</a:t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4058412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4058412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WAVES</a:t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5100828" y="384048"/>
            <a:ext cx="841200" cy="279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5100828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TURBIDITY</a:t>
            </a:r>
            <a:endParaRPr/>
          </a:p>
        </p:txBody>
      </p:sp>
      <p:sp>
        <p:nvSpPr>
          <p:cNvPr id="324" name="Google Shape;324;p14"/>
          <p:cNvSpPr txBox="1"/>
          <p:nvPr/>
        </p:nvSpPr>
        <p:spPr>
          <a:xfrm>
            <a:off x="2574058" y="4182396"/>
            <a:ext cx="237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4FC3D7"/>
                </a:solidFill>
                <a:latin typeface="IBM Plex Sans"/>
                <a:ea typeface="IBM Plex Sans"/>
                <a:cs typeface="IBM Plex Sans"/>
                <a:sym typeface="IBM Plex Sans"/>
              </a:rPr>
              <a:t>wave</a:t>
            </a:r>
            <a:r>
              <a:rPr b="1" lang="en-US" sz="1300">
                <a:solidFill>
                  <a:srgbClr val="4FC3D7"/>
                </a:solidFill>
                <a:latin typeface="IBM Plex Sans"/>
                <a:ea typeface="IBM Plex Sans"/>
                <a:cs typeface="IBM Plex Sans"/>
                <a:sym typeface="IBM Plex Sans"/>
              </a:rPr>
              <a:t>-driven </a:t>
            </a:r>
            <a:br>
              <a:rPr b="1" lang="en-US" sz="1300">
                <a:solidFill>
                  <a:srgbClr val="4FC3D7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b="1" lang="en-US" sz="1300">
                <a:solidFill>
                  <a:srgbClr val="4FC3D7"/>
                </a:solidFill>
                <a:latin typeface="IBM Plex Sans"/>
                <a:ea typeface="IBM Plex Sans"/>
                <a:cs typeface="IBM Plex Sans"/>
                <a:sym typeface="IBM Plex Sans"/>
              </a:rPr>
              <a:t>orbital velocities</a:t>
            </a:r>
            <a:endParaRPr/>
          </a:p>
        </p:txBody>
      </p:sp>
      <p:sp>
        <p:nvSpPr>
          <p:cNvPr id="325" name="Google Shape;325;p14"/>
          <p:cNvSpPr txBox="1"/>
          <p:nvPr/>
        </p:nvSpPr>
        <p:spPr>
          <a:xfrm>
            <a:off x="7286272" y="4582608"/>
            <a:ext cx="2377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91C33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currents</a:t>
            </a:r>
            <a:endParaRPr/>
          </a:p>
        </p:txBody>
      </p:sp>
      <p:sp>
        <p:nvSpPr>
          <p:cNvPr id="326" name="Google Shape;326;p14"/>
          <p:cNvSpPr txBox="1"/>
          <p:nvPr/>
        </p:nvSpPr>
        <p:spPr>
          <a:xfrm>
            <a:off x="4744326" y="4958596"/>
            <a:ext cx="110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wave-driven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bed stress</a:t>
            </a:r>
            <a:endParaRPr/>
          </a:p>
        </p:txBody>
      </p:sp>
      <p:sp>
        <p:nvSpPr>
          <p:cNvPr id="327" name="Google Shape;327;p14"/>
          <p:cNvSpPr txBox="1"/>
          <p:nvPr/>
        </p:nvSpPr>
        <p:spPr>
          <a:xfrm>
            <a:off x="7286272" y="5208510"/>
            <a:ext cx="165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current-driven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bed stress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3" name="Google Shape;333;p15"/>
          <p:cNvSpPr txBox="1"/>
          <p:nvPr/>
        </p:nvSpPr>
        <p:spPr>
          <a:xfrm>
            <a:off x="841248" y="960120"/>
            <a:ext cx="31089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Turbidity, tuned to observations</a:t>
            </a:r>
            <a:r>
              <a:rPr b="0" i="0"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.</a:t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841248" y="246634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5" name="Google Shape;335;p15"/>
          <p:cNvSpPr txBox="1"/>
          <p:nvPr/>
        </p:nvSpPr>
        <p:spPr>
          <a:xfrm>
            <a:off x="1371600" y="2377440"/>
            <a:ext cx="329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TURB</a:t>
            </a:r>
            <a:r>
              <a:rPr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IDITY</a:t>
            </a:r>
            <a:r>
              <a:rPr b="0" i="0"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 MODEL</a:t>
            </a:r>
            <a:endParaRPr/>
          </a:p>
        </p:txBody>
      </p:sp>
      <p:sp>
        <p:nvSpPr>
          <p:cNvPr id="336" name="Google Shape;336;p15"/>
          <p:cNvSpPr txBox="1"/>
          <p:nvPr/>
        </p:nvSpPr>
        <p:spPr>
          <a:xfrm>
            <a:off x="841248" y="2761488"/>
            <a:ext cx="3291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ENSEMBLE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5 runs </a:t>
            </a:r>
            <a:r>
              <a:rPr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corresponding to different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erosion rates x0.5 to x2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TUNED</a:t>
            </a: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 TO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in-situ NTU, 6 m depth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CHECKED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MODIS Aqua, qualitative</a:t>
            </a:r>
            <a:endParaRPr/>
          </a:p>
        </p:txBody>
      </p:sp>
      <p:pic>
        <p:nvPicPr>
          <p:cNvPr descr="chain-7c-modis.png" id="337" name="Google Shape;33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7205" y="868173"/>
            <a:ext cx="7726678" cy="2812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in-7a-calibration.png" id="338" name="Google Shape;33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4517136"/>
            <a:ext cx="10469879" cy="194644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5"/>
          <p:cNvSpPr/>
          <p:nvPr/>
        </p:nvSpPr>
        <p:spPr>
          <a:xfrm>
            <a:off x="931164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0" name="Google Shape;340;p15"/>
          <p:cNvSpPr txBox="1"/>
          <p:nvPr/>
        </p:nvSpPr>
        <p:spPr>
          <a:xfrm>
            <a:off x="931164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INPUTS</a:t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1973580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2" name="Google Shape;342;p15"/>
          <p:cNvSpPr txBox="1"/>
          <p:nvPr/>
        </p:nvSpPr>
        <p:spPr>
          <a:xfrm>
            <a:off x="1973580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GRID</a:t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3015996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4" name="Google Shape;344;p15"/>
          <p:cNvSpPr txBox="1"/>
          <p:nvPr/>
        </p:nvSpPr>
        <p:spPr>
          <a:xfrm>
            <a:off x="3015996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CIRCULATION</a:t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4058412" y="384048"/>
            <a:ext cx="841200" cy="27900"/>
          </a:xfrm>
          <a:prstGeom prst="rect">
            <a:avLst/>
          </a:prstGeom>
          <a:solidFill>
            <a:srgbClr val="D6CD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6" name="Google Shape;346;p15"/>
          <p:cNvSpPr txBox="1"/>
          <p:nvPr/>
        </p:nvSpPr>
        <p:spPr>
          <a:xfrm>
            <a:off x="4058412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WAVES</a:t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5100828" y="384048"/>
            <a:ext cx="841200" cy="279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8" name="Google Shape;348;p15"/>
          <p:cNvSpPr txBox="1"/>
          <p:nvPr/>
        </p:nvSpPr>
        <p:spPr>
          <a:xfrm>
            <a:off x="5100828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TURBIDITY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hain-8-cascade.gif" id="354" name="Google Shape;3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1078992"/>
            <a:ext cx="10972800" cy="4846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6"/>
          <p:cNvSpPr txBox="1"/>
          <p:nvPr/>
        </p:nvSpPr>
        <p:spPr>
          <a:xfrm>
            <a:off x="841248" y="1078999"/>
            <a:ext cx="4937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One example storm, all</a:t>
            </a:r>
            <a:br>
              <a:rPr b="0" i="0"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</a:br>
            <a:r>
              <a:rPr b="0" i="0"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way </a:t>
            </a:r>
            <a:r>
              <a:rPr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through.</a:t>
            </a:r>
            <a:endParaRPr sz="3800">
              <a:solidFill>
                <a:srgbClr val="0B142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356" name="Google Shape;356;p16"/>
          <p:cNvSpPr txBox="1"/>
          <p:nvPr/>
        </p:nvSpPr>
        <p:spPr>
          <a:xfrm>
            <a:off x="749748" y="2459334"/>
            <a:ext cx="5120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w</a:t>
            </a:r>
            <a:r>
              <a:rPr b="0" i="0" lang="en-US" sz="13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inds -&gt; circulation -&gt;</a:t>
            </a:r>
            <a:r>
              <a:rPr lang="en-US" sz="13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 waves -&gt; turbidity</a:t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931164" y="384048"/>
            <a:ext cx="841200" cy="279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8" name="Google Shape;358;p16"/>
          <p:cNvSpPr txBox="1"/>
          <p:nvPr/>
        </p:nvSpPr>
        <p:spPr>
          <a:xfrm>
            <a:off x="931164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INPUTS</a:t>
            </a: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1973580" y="384048"/>
            <a:ext cx="841200" cy="279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0" name="Google Shape;360;p16"/>
          <p:cNvSpPr txBox="1"/>
          <p:nvPr/>
        </p:nvSpPr>
        <p:spPr>
          <a:xfrm>
            <a:off x="1973580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GRID</a:t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3015996" y="384048"/>
            <a:ext cx="841200" cy="279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2" name="Google Shape;362;p16"/>
          <p:cNvSpPr txBox="1"/>
          <p:nvPr/>
        </p:nvSpPr>
        <p:spPr>
          <a:xfrm>
            <a:off x="3015996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CIRCULATION</a:t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4058412" y="384048"/>
            <a:ext cx="841200" cy="279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4" name="Google Shape;364;p16"/>
          <p:cNvSpPr txBox="1"/>
          <p:nvPr/>
        </p:nvSpPr>
        <p:spPr>
          <a:xfrm>
            <a:off x="4058412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WAVES</a:t>
            </a:r>
            <a:endParaRPr/>
          </a:p>
        </p:txBody>
      </p:sp>
      <p:sp>
        <p:nvSpPr>
          <p:cNvPr id="365" name="Google Shape;365;p16"/>
          <p:cNvSpPr/>
          <p:nvPr/>
        </p:nvSpPr>
        <p:spPr>
          <a:xfrm>
            <a:off x="5100828" y="384048"/>
            <a:ext cx="841200" cy="279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6" name="Google Shape;366;p16"/>
          <p:cNvSpPr txBox="1"/>
          <p:nvPr/>
        </p:nvSpPr>
        <p:spPr>
          <a:xfrm>
            <a:off x="5100828" y="502920"/>
            <a:ext cx="1042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TURBIDITY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841248" y="2832100"/>
            <a:ext cx="384048" cy="15240"/>
          </a:xfrm>
          <a:prstGeom prst="rect">
            <a:avLst/>
          </a:prstGeom>
          <a:solidFill>
            <a:srgbClr val="4FC3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3" name="Google Shape;373;p17"/>
          <p:cNvSpPr txBox="1"/>
          <p:nvPr/>
        </p:nvSpPr>
        <p:spPr>
          <a:xfrm>
            <a:off x="1371600" y="2743200"/>
            <a:ext cx="54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FC3D7"/>
                </a:solidFill>
                <a:latin typeface="IBM Plex Mono"/>
                <a:ea typeface="IBM Plex Mono"/>
                <a:cs typeface="IBM Plex Mono"/>
                <a:sym typeface="IBM Plex Mono"/>
              </a:rPr>
              <a:t>SECTION 02</a:t>
            </a:r>
            <a:endParaRPr/>
          </a:p>
        </p:txBody>
      </p:sp>
      <p:sp>
        <p:nvSpPr>
          <p:cNvPr id="374" name="Google Shape;374;p17"/>
          <p:cNvSpPr txBox="1"/>
          <p:nvPr/>
        </p:nvSpPr>
        <p:spPr>
          <a:xfrm>
            <a:off x="841248" y="3200400"/>
            <a:ext cx="1042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we</a:t>
            </a:r>
            <a:r>
              <a:rPr lang="en-US" sz="58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’d build for you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841248" y="95758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1" name="Google Shape;381;p18"/>
          <p:cNvSpPr txBox="1"/>
          <p:nvPr/>
        </p:nvSpPr>
        <p:spPr>
          <a:xfrm>
            <a:off x="1371600" y="868680"/>
            <a:ext cx="54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SECTION 02</a:t>
            </a:r>
            <a:endParaRPr/>
          </a:p>
        </p:txBody>
      </p:sp>
      <p:sp>
        <p:nvSpPr>
          <p:cNvPr id="382" name="Google Shape;382;p18"/>
          <p:cNvSpPr txBox="1"/>
          <p:nvPr/>
        </p:nvSpPr>
        <p:spPr>
          <a:xfrm>
            <a:off x="841248" y="1207008"/>
            <a:ext cx="10424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Three offerings, looking at three </a:t>
            </a:r>
            <a:r>
              <a:rPr lang="en-US" sz="38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time windows.</a:t>
            </a:r>
            <a:endParaRPr/>
          </a:p>
        </p:txBody>
      </p:sp>
      <p:sp>
        <p:nvSpPr>
          <p:cNvPr id="383" name="Google Shape;383;p18"/>
          <p:cNvSpPr/>
          <p:nvPr/>
        </p:nvSpPr>
        <p:spPr>
          <a:xfrm>
            <a:off x="841248" y="2724912"/>
            <a:ext cx="3291840" cy="3145536"/>
          </a:xfrm>
          <a:prstGeom prst="rect">
            <a:avLst/>
          </a:prstGeom>
          <a:solidFill>
            <a:srgbClr val="EFE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841248" y="2724912"/>
            <a:ext cx="3291840" cy="381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5" name="Google Shape;385;p18"/>
          <p:cNvSpPr txBox="1"/>
          <p:nvPr/>
        </p:nvSpPr>
        <p:spPr>
          <a:xfrm>
            <a:off x="1152144" y="2999232"/>
            <a:ext cx="267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FF6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T</a:t>
            </a:r>
            <a:r>
              <a:rPr lang="en-US" sz="1000">
                <a:solidFill>
                  <a:srgbClr val="FF6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HE PAST</a:t>
            </a:r>
            <a:endParaRPr/>
          </a:p>
        </p:txBody>
      </p:sp>
      <p:sp>
        <p:nvSpPr>
          <p:cNvPr id="386" name="Google Shape;386;p18"/>
          <p:cNvSpPr txBox="1"/>
          <p:nvPr/>
        </p:nvSpPr>
        <p:spPr>
          <a:xfrm>
            <a:off x="1152144" y="3383280"/>
            <a:ext cx="26700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Site characterisation</a:t>
            </a:r>
            <a:endParaRPr/>
          </a:p>
        </p:txBody>
      </p:sp>
      <p:sp>
        <p:nvSpPr>
          <p:cNvPr id="387" name="Google Shape;387;p18"/>
          <p:cNvSpPr txBox="1"/>
          <p:nvPr/>
        </p:nvSpPr>
        <p:spPr>
          <a:xfrm>
            <a:off x="1152144" y="4078224"/>
            <a:ext cx="2670048" cy="170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A hindcast study at your intake. What the water has actually done — turbidity, temperature, salinity, currents — over ten years, with every event resolved hour by hour.</a:t>
            </a:r>
            <a:endParaRPr/>
          </a:p>
        </p:txBody>
      </p:sp>
      <p:sp>
        <p:nvSpPr>
          <p:cNvPr id="388" name="Google Shape;388;p18"/>
          <p:cNvSpPr/>
          <p:nvPr/>
        </p:nvSpPr>
        <p:spPr>
          <a:xfrm>
            <a:off x="4453128" y="2724912"/>
            <a:ext cx="3291840" cy="3145536"/>
          </a:xfrm>
          <a:prstGeom prst="rect">
            <a:avLst/>
          </a:prstGeom>
          <a:solidFill>
            <a:srgbClr val="EFE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4453128" y="2724912"/>
            <a:ext cx="3291840" cy="381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0" name="Google Shape;390;p18"/>
          <p:cNvSpPr txBox="1"/>
          <p:nvPr/>
        </p:nvSpPr>
        <p:spPr>
          <a:xfrm>
            <a:off x="4764024" y="2999232"/>
            <a:ext cx="267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FF6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</a:t>
            </a:r>
            <a:r>
              <a:rPr lang="en-US" sz="1000">
                <a:solidFill>
                  <a:srgbClr val="FF6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 PRESENT</a:t>
            </a:r>
            <a:endParaRPr/>
          </a:p>
        </p:txBody>
      </p:sp>
      <p:sp>
        <p:nvSpPr>
          <p:cNvPr id="391" name="Google Shape;391;p18"/>
          <p:cNvSpPr txBox="1"/>
          <p:nvPr/>
        </p:nvSpPr>
        <p:spPr>
          <a:xfrm>
            <a:off x="4764024" y="3383280"/>
            <a:ext cx="26700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 daily forecast</a:t>
            </a:r>
            <a:endParaRPr/>
          </a:p>
        </p:txBody>
      </p:sp>
      <p:sp>
        <p:nvSpPr>
          <p:cNvPr id="392" name="Google Shape;392;p18"/>
          <p:cNvSpPr txBox="1"/>
          <p:nvPr/>
        </p:nvSpPr>
        <p:spPr>
          <a:xfrm>
            <a:off x="4764024" y="4078224"/>
            <a:ext cx="2670000" cy="1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same models, run every morning, through a </a:t>
            </a:r>
            <a:r>
              <a:rPr lang="en-US" sz="125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dashboard</a:t>
            </a:r>
            <a:r>
              <a:rPr b="0" i="0" lang="en-US" sz="125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  designed around your intake and your own thresholds. Seven days ahead.</a:t>
            </a:r>
            <a:endParaRPr/>
          </a:p>
        </p:txBody>
      </p:sp>
      <p:sp>
        <p:nvSpPr>
          <p:cNvPr id="393" name="Google Shape;393;p18"/>
          <p:cNvSpPr/>
          <p:nvPr/>
        </p:nvSpPr>
        <p:spPr>
          <a:xfrm>
            <a:off x="8065008" y="2724912"/>
            <a:ext cx="3291840" cy="3145536"/>
          </a:xfrm>
          <a:prstGeom prst="rect">
            <a:avLst/>
          </a:prstGeom>
          <a:solidFill>
            <a:srgbClr val="EFE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8065008" y="2724912"/>
            <a:ext cx="3291840" cy="381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5" name="Google Shape;395;p18"/>
          <p:cNvSpPr txBox="1"/>
          <p:nvPr/>
        </p:nvSpPr>
        <p:spPr>
          <a:xfrm>
            <a:off x="8375904" y="2999232"/>
            <a:ext cx="267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6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T</a:t>
            </a:r>
            <a:r>
              <a:rPr b="0" i="0" lang="en-US" sz="1000">
                <a:solidFill>
                  <a:srgbClr val="FF6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HE FUTURE</a:t>
            </a:r>
            <a:endParaRPr/>
          </a:p>
        </p:txBody>
      </p:sp>
      <p:sp>
        <p:nvSpPr>
          <p:cNvPr id="396" name="Google Shape;396;p18"/>
          <p:cNvSpPr txBox="1"/>
          <p:nvPr/>
        </p:nvSpPr>
        <p:spPr>
          <a:xfrm>
            <a:off x="8375904" y="3383280"/>
            <a:ext cx="26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Future c</a:t>
            </a:r>
            <a:r>
              <a:rPr b="0" i="0" lang="en-US" sz="24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limate outlook</a:t>
            </a:r>
            <a:endParaRPr/>
          </a:p>
        </p:txBody>
      </p:sp>
      <p:sp>
        <p:nvSpPr>
          <p:cNvPr id="397" name="Google Shape;397;p18"/>
          <p:cNvSpPr txBox="1"/>
          <p:nvPr/>
        </p:nvSpPr>
        <p:spPr>
          <a:xfrm>
            <a:off x="8375904" y="4078224"/>
            <a:ext cx="2670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same chain, forced by climate projections, to ask what the intake looks like in the 2050s.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841248" y="95758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4" name="Google Shape;404;p19"/>
          <p:cNvSpPr txBox="1"/>
          <p:nvPr/>
        </p:nvSpPr>
        <p:spPr>
          <a:xfrm>
            <a:off x="1371600" y="8686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OFFERING 01</a:t>
            </a:r>
            <a:endParaRPr/>
          </a:p>
        </p:txBody>
      </p:sp>
      <p:sp>
        <p:nvSpPr>
          <p:cNvPr id="405" name="Google Shape;405;p19"/>
          <p:cNvSpPr txBox="1"/>
          <p:nvPr/>
        </p:nvSpPr>
        <p:spPr>
          <a:xfrm>
            <a:off x="841248" y="1261872"/>
            <a:ext cx="603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Site characterisation.</a:t>
            </a:r>
            <a:endParaRPr/>
          </a:p>
        </p:txBody>
      </p:sp>
      <p:sp>
        <p:nvSpPr>
          <p:cNvPr id="406" name="Google Shape;406;p19"/>
          <p:cNvSpPr txBox="1"/>
          <p:nvPr/>
        </p:nvSpPr>
        <p:spPr>
          <a:xfrm>
            <a:off x="841248" y="2788920"/>
            <a:ext cx="5943600" cy="20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Ten years of hourly conditions at your intake location and</a:t>
            </a:r>
            <a:r>
              <a:rPr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depth, 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from the modelling chain you have just seen.</a:t>
            </a:r>
            <a:endParaRPr/>
          </a:p>
          <a:p>
            <a:pPr indent="0" lvl="0" marL="0" marR="0" rtl="0" algn="l">
              <a:lnSpc>
                <a:spcPct val="132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</a:t>
            </a:r>
            <a:r>
              <a:rPr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Su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mmary statistics required for </a:t>
            </a:r>
            <a:r>
              <a:rPr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operations planning e.g. 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 exceedance statistics, event durations, seasonal envelopes.</a:t>
            </a:r>
            <a:endParaRPr/>
          </a:p>
          <a:p>
            <a:pPr indent="0" lvl="0" marL="0" marR="0" rtl="0" algn="l">
              <a:lnSpc>
                <a:spcPct val="132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Brine dispersion a</a:t>
            </a:r>
            <a:r>
              <a:rPr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nd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 recirculation</a:t>
            </a:r>
            <a:r>
              <a:rPr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 i.e.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  the </a:t>
            </a:r>
            <a:r>
              <a:rPr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spatial extent of the plume from y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 outfall, </a:t>
            </a:r>
            <a:r>
              <a:rPr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 whether it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 reaches your intake.</a:t>
            </a:r>
            <a:endParaRPr/>
          </a:p>
        </p:txBody>
      </p:sp>
      <p:sp>
        <p:nvSpPr>
          <p:cNvPr id="407" name="Google Shape;407;p19"/>
          <p:cNvSpPr/>
          <p:nvPr/>
        </p:nvSpPr>
        <p:spPr>
          <a:xfrm>
            <a:off x="7498079" y="1387348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8" name="Google Shape;408;p19"/>
          <p:cNvSpPr txBox="1"/>
          <p:nvPr/>
        </p:nvSpPr>
        <p:spPr>
          <a:xfrm>
            <a:off x="8028431" y="129844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 STUDY COVERS</a:t>
            </a:r>
            <a:endParaRPr/>
          </a:p>
        </p:txBody>
      </p:sp>
      <p:sp>
        <p:nvSpPr>
          <p:cNvPr id="409" name="Google Shape;409;p19"/>
          <p:cNvSpPr txBox="1"/>
          <p:nvPr/>
        </p:nvSpPr>
        <p:spPr>
          <a:xfrm>
            <a:off x="7498079" y="1682496"/>
            <a:ext cx="42063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PERIOD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2015 → present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OUTPUT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hourly  ·  all 15 levels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VARIABLES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T, S, u, v, WL, Hs, Tp,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NTU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DELIVERABLE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technical report + the data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extraction at your own intake coordinates and depth</a:t>
            </a:r>
            <a:endParaRPr/>
          </a:p>
        </p:txBody>
      </p:sp>
      <p:sp>
        <p:nvSpPr>
          <p:cNvPr id="410" name="Google Shape;410;p19"/>
          <p:cNvSpPr/>
          <p:nvPr/>
        </p:nvSpPr>
        <p:spPr>
          <a:xfrm>
            <a:off x="7498079" y="4315968"/>
            <a:ext cx="4206240" cy="1682496"/>
          </a:xfrm>
          <a:prstGeom prst="rect">
            <a:avLst/>
          </a:prstGeom>
          <a:solidFill>
            <a:srgbClr val="EFE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1" name="Google Shape;411;p19"/>
          <p:cNvSpPr/>
          <p:nvPr/>
        </p:nvSpPr>
        <p:spPr>
          <a:xfrm>
            <a:off x="7498079" y="4315968"/>
            <a:ext cx="38100" cy="1682496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2" name="Google Shape;412;p19"/>
          <p:cNvSpPr txBox="1"/>
          <p:nvPr/>
        </p:nvSpPr>
        <p:spPr>
          <a:xfrm>
            <a:off x="7808975" y="4553712"/>
            <a:ext cx="358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6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LIMITATIONS</a:t>
            </a:r>
            <a:endParaRPr/>
          </a:p>
        </p:txBody>
      </p:sp>
      <p:sp>
        <p:nvSpPr>
          <p:cNvPr id="413" name="Google Shape;413;p19"/>
          <p:cNvSpPr txBox="1"/>
          <p:nvPr/>
        </p:nvSpPr>
        <p:spPr>
          <a:xfrm>
            <a:off x="7808975" y="4919472"/>
            <a:ext cx="3584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Turbidity here is sediment-driven — shamal-stirred plumes. Algal blooms and biological fouling are not modelled yet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841248" y="747268"/>
            <a:ext cx="384048" cy="15240"/>
          </a:xfrm>
          <a:prstGeom prst="rect">
            <a:avLst/>
          </a:prstGeom>
          <a:solidFill>
            <a:srgbClr val="4FC3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0" name="Google Shape;420;p21"/>
          <p:cNvSpPr txBox="1"/>
          <p:nvPr/>
        </p:nvSpPr>
        <p:spPr>
          <a:xfrm>
            <a:off x="1371600" y="65836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FC3D7"/>
                </a:solidFill>
                <a:latin typeface="IBM Plex Mono"/>
                <a:ea typeface="IBM Plex Mono"/>
                <a:cs typeface="IBM Plex Mono"/>
                <a:sym typeface="IBM Plex Mono"/>
              </a:rPr>
              <a:t>OFFERING 02</a:t>
            </a:r>
            <a:endParaRPr/>
          </a:p>
        </p:txBody>
      </p:sp>
      <p:sp>
        <p:nvSpPr>
          <p:cNvPr id="421" name="Google Shape;421;p21"/>
          <p:cNvSpPr txBox="1"/>
          <p:nvPr/>
        </p:nvSpPr>
        <p:spPr>
          <a:xfrm>
            <a:off x="841248" y="1024128"/>
            <a:ext cx="64008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 daily forecast viewed on a private  dashboard, co-designed </a:t>
            </a:r>
            <a:r>
              <a:rPr b="0" i="0" lang="en-US" sz="36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with you.</a:t>
            </a:r>
            <a:endParaRPr sz="3600"/>
          </a:p>
        </p:txBody>
      </p:sp>
      <p:sp>
        <p:nvSpPr>
          <p:cNvPr id="422" name="Google Shape;422;p21"/>
          <p:cNvSpPr txBox="1"/>
          <p:nvPr/>
        </p:nvSpPr>
        <p:spPr>
          <a:xfrm>
            <a:off x="841250" y="3300655"/>
            <a:ext cx="4530300" cy="18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</a:t>
            </a:r>
            <a:r>
              <a:rPr b="0" i="0" lang="en-US" sz="1400">
                <a:solidFill>
                  <a:srgbClr val="A8E0EA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intake, at your depth</a:t>
            </a:r>
            <a:endParaRPr b="0" i="0" sz="1400">
              <a:solidFill>
                <a:srgbClr val="A8E0EA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3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</a:t>
            </a:r>
            <a:r>
              <a:rPr lang="en-US">
                <a:solidFill>
                  <a:srgbClr val="A8E0EA"/>
                </a:solidFill>
                <a:latin typeface="IBM Plex Sans"/>
                <a:ea typeface="IBM Plex Sans"/>
                <a:cs typeface="IBM Plex Sans"/>
                <a:sym typeface="IBM Plex Sans"/>
              </a:rPr>
              <a:t>Turbidity, waves, temperature, salinity and currents</a:t>
            </a:r>
            <a:endParaRPr>
              <a:solidFill>
                <a:srgbClr val="A8E0EA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</a:t>
            </a:r>
            <a:r>
              <a:rPr b="0" i="0" lang="en-US" sz="1400">
                <a:solidFill>
                  <a:srgbClr val="A8E0EA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thresholds and your alarm levels, in the units used by your operators.</a:t>
            </a:r>
            <a:endParaRPr b="0" i="0" sz="1400">
              <a:solidFill>
                <a:srgbClr val="A8E0EA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3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</a:t>
            </a:r>
            <a:r>
              <a:rPr lang="en-US">
                <a:solidFill>
                  <a:srgbClr val="A8E0EA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Automated warnings (e.g. email) for  upcoming events</a:t>
            </a:r>
            <a:endParaRPr>
              <a:solidFill>
                <a:srgbClr val="A8E0E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23" name="Google Shape;4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5325" y="2612379"/>
            <a:ext cx="6400800" cy="3581509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1"/>
          <p:cNvSpPr txBox="1"/>
          <p:nvPr/>
        </p:nvSpPr>
        <p:spPr>
          <a:xfrm>
            <a:off x="8311975" y="3443679"/>
            <a:ext cx="313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4125"/>
                </a:solidFill>
                <a:latin typeface="IBM Plex Mono"/>
                <a:ea typeface="IBM Plex Mono"/>
                <a:cs typeface="IBM Plex Mono"/>
                <a:sym typeface="IBM Plex Mono"/>
              </a:rPr>
              <a:t>EXISTING PUBLIC VIEW -</a:t>
            </a:r>
            <a:br>
              <a:rPr lang="en-US" sz="1000">
                <a:solidFill>
                  <a:srgbClr val="CC4125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lang="en-US" sz="1000">
                <a:solidFill>
                  <a:srgbClr val="CC4125"/>
                </a:solidFill>
                <a:latin typeface="IBM Plex Mono"/>
                <a:ea typeface="IBM Plex Mono"/>
                <a:cs typeface="IBM Plex Mono"/>
                <a:sym typeface="IBM Plex Mono"/>
              </a:rPr>
              <a:t>ILLUSTRATIVE PURPOSES ONLY</a:t>
            </a:r>
            <a:endParaRPr sz="1000">
              <a:solidFill>
                <a:srgbClr val="CC4125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fbe5dd7b32_0_9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0" name="Google Shape;430;g3fbe5dd7b32_0_94"/>
          <p:cNvSpPr/>
          <p:nvPr/>
        </p:nvSpPr>
        <p:spPr>
          <a:xfrm>
            <a:off x="841248" y="957580"/>
            <a:ext cx="384000" cy="15300"/>
          </a:xfrm>
          <a:prstGeom prst="rect">
            <a:avLst/>
          </a:prstGeom>
          <a:solidFill>
            <a:srgbClr val="4A56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1" name="Google Shape;431;g3fbe5dd7b32_0_94"/>
          <p:cNvSpPr txBox="1"/>
          <p:nvPr/>
        </p:nvSpPr>
        <p:spPr>
          <a:xfrm>
            <a:off x="1371600" y="868680"/>
            <a:ext cx="54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OFFERING 02  ·  WITH YOUR DATA</a:t>
            </a:r>
            <a:endParaRPr/>
          </a:p>
        </p:txBody>
      </p:sp>
      <p:sp>
        <p:nvSpPr>
          <p:cNvPr id="432" name="Google Shape;432;g3fbe5dd7b32_0_94"/>
          <p:cNvSpPr txBox="1"/>
          <p:nvPr/>
        </p:nvSpPr>
        <p:spPr>
          <a:xfrm>
            <a:off x="841248" y="1261872"/>
            <a:ext cx="64008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forecast gets sharper</a:t>
            </a:r>
            <a:br>
              <a:rPr b="0" i="0" lang="en-US" sz="36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</a:br>
            <a:r>
              <a:rPr b="0" i="0" lang="en-US" sz="36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longer</a:t>
            </a:r>
            <a:r>
              <a:rPr lang="en-US" sz="36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it runs.</a:t>
            </a:r>
            <a:endParaRPr sz="3600">
              <a:solidFill>
                <a:srgbClr val="0B142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433" name="Google Shape;433;g3fbe5dd7b32_0_94"/>
          <p:cNvSpPr txBox="1"/>
          <p:nvPr/>
        </p:nvSpPr>
        <p:spPr>
          <a:xfrm>
            <a:off x="841248" y="2788920"/>
            <a:ext cx="6035100" cy="27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model forecasts your intake from day one, with nothing required from you. What follows is an improvement, not a condition.</a:t>
            </a:r>
            <a:endParaRPr/>
          </a:p>
          <a:p>
            <a:pPr indent="0" lvl="0" marL="0" marR="0" rtl="0" algn="l">
              <a:lnSpc>
                <a:spcPct val="132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If you hold sensor records at the intake, we train a correction on the gap between what the model said and what you measured.</a:t>
            </a:r>
            <a:endParaRPr/>
          </a:p>
          <a:p>
            <a:pPr indent="0" lvl="0" marL="0" marR="0" rtl="0" algn="l">
              <a:lnSpc>
                <a:spcPct val="132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learns your site's own </a:t>
            </a:r>
            <a:r>
              <a:rPr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systematic offsets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your depth, your local bathymetry, your instrument.</a:t>
            </a:r>
            <a:endParaRPr/>
          </a:p>
          <a:p>
            <a:pPr indent="0" lvl="0" marL="0" marR="0" rtl="0" algn="l">
              <a:lnSpc>
                <a:spcPct val="132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 it compounds — every month of operation is more training data. The forecast in year two is not the one you started with.</a:t>
            </a:r>
            <a:endParaRPr/>
          </a:p>
        </p:txBody>
      </p:sp>
      <p:sp>
        <p:nvSpPr>
          <p:cNvPr id="434" name="Google Shape;434;g3fbe5dd7b32_0_94"/>
          <p:cNvSpPr/>
          <p:nvPr/>
        </p:nvSpPr>
        <p:spPr>
          <a:xfrm>
            <a:off x="7498079" y="1387348"/>
            <a:ext cx="384000" cy="15300"/>
          </a:xfrm>
          <a:prstGeom prst="rect">
            <a:avLst/>
          </a:prstGeom>
          <a:solidFill>
            <a:srgbClr val="4A56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5" name="Google Shape;435;g3fbe5dd7b32_0_94"/>
          <p:cNvSpPr txBox="1"/>
          <p:nvPr/>
        </p:nvSpPr>
        <p:spPr>
          <a:xfrm>
            <a:off x="8028431" y="1298448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IT NEEDS</a:t>
            </a:r>
            <a:endParaRPr/>
          </a:p>
        </p:txBody>
      </p:sp>
      <p:sp>
        <p:nvSpPr>
          <p:cNvPr id="436" name="Google Shape;436;g3fbe5dd7b32_0_94"/>
          <p:cNvSpPr txBox="1"/>
          <p:nvPr/>
        </p:nvSpPr>
        <p:spPr>
          <a:xfrm>
            <a:off x="7498075" y="1682500"/>
            <a:ext cx="33441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VARIABLE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turbidity (NTU), or T and 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DEPTH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sensor depth, as installed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RECORD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1 year minimum  ·  2+ preferred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SAMPLING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hourly or better  ·  gaps fine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METHOD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learned residual correction, re-fit as data arrives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YOUR DATA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stays yours, never pooled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841248" y="95758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3" name="Google Shape;443;p22"/>
          <p:cNvSpPr txBox="1"/>
          <p:nvPr/>
        </p:nvSpPr>
        <p:spPr>
          <a:xfrm>
            <a:off x="1371600" y="868680"/>
            <a:ext cx="54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OFFERING 03</a:t>
            </a:r>
            <a:endParaRPr/>
          </a:p>
        </p:txBody>
      </p:sp>
      <p:sp>
        <p:nvSpPr>
          <p:cNvPr id="444" name="Google Shape;444;p22"/>
          <p:cNvSpPr txBox="1"/>
          <p:nvPr/>
        </p:nvSpPr>
        <p:spPr>
          <a:xfrm>
            <a:off x="841248" y="1261872"/>
            <a:ext cx="64008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Future climate outlook - </a:t>
            </a:r>
            <a:r>
              <a:rPr b="0" i="0" lang="en-US" sz="36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the intake</a:t>
            </a:r>
            <a:br>
              <a:rPr b="0" i="0" lang="en-US" sz="36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</a:br>
            <a:r>
              <a:rPr b="0" i="0" lang="en-US" sz="3600">
                <a:solidFill>
                  <a:srgbClr val="0B142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might look like in 2050 and beyond.</a:t>
            </a:r>
            <a:endParaRPr/>
          </a:p>
        </p:txBody>
      </p:sp>
      <p:sp>
        <p:nvSpPr>
          <p:cNvPr id="445" name="Google Shape;445;p22"/>
          <p:cNvSpPr txBox="1"/>
          <p:nvPr/>
        </p:nvSpPr>
        <p:spPr>
          <a:xfrm>
            <a:off x="841248" y="2985989"/>
            <a:ext cx="6035100" cy="20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Gulf is warming, and its salinity is rising.</a:t>
            </a:r>
            <a:endParaRPr/>
          </a:p>
          <a:p>
            <a:pPr indent="0" lvl="0" marL="0" marR="0" rtl="0" algn="l">
              <a:lnSpc>
                <a:spcPct val="132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</a:t>
            </a:r>
            <a:r>
              <a:rPr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A plant commissioned today will see temperature, salinity and turbidity which is different to the last ten years.</a:t>
            </a:r>
            <a:endParaRPr/>
          </a:p>
          <a:p>
            <a:pPr indent="0" lvl="0" marL="0" marR="0" rtl="0" algn="l">
              <a:lnSpc>
                <a:spcPct val="132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6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  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sa</a:t>
            </a:r>
            <a:r>
              <a:rPr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me model workflow can be used to model the future climate scenario. The model forcing is adjusted to the future climate scenario being modelled</a:t>
            </a:r>
            <a:r>
              <a:rPr b="0" i="0" lang="en-US" sz="1500">
                <a:solidFill>
                  <a:srgbClr val="4A5665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/>
          </a:p>
        </p:txBody>
      </p:sp>
      <p:sp>
        <p:nvSpPr>
          <p:cNvPr id="446" name="Google Shape;446;p22"/>
          <p:cNvSpPr/>
          <p:nvPr/>
        </p:nvSpPr>
        <p:spPr>
          <a:xfrm>
            <a:off x="7498079" y="1387348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7" name="Google Shape;447;p22"/>
          <p:cNvSpPr txBox="1"/>
          <p:nvPr/>
        </p:nvSpPr>
        <p:spPr>
          <a:xfrm>
            <a:off x="8028431" y="129844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IT WOULD WORK</a:t>
            </a:r>
            <a:endParaRPr/>
          </a:p>
        </p:txBody>
      </p:sp>
      <p:sp>
        <p:nvSpPr>
          <p:cNvPr id="448" name="Google Shape;448;p22"/>
          <p:cNvSpPr txBox="1"/>
          <p:nvPr/>
        </p:nvSpPr>
        <p:spPr>
          <a:xfrm>
            <a:off x="7498079" y="1682496"/>
            <a:ext cx="42063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METHOD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dynamical downscaling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FORCING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CMIP6, multiple scenarios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HORIZON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2050s and 2080s slices (and others as needed)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ANSWERS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T, S and NTU at the intake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BUILT ON  </a:t>
            </a: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identical CROCO, WW3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and </a:t>
            </a:r>
            <a:r>
              <a:rPr lang="en-US" sz="1000">
                <a:solidFill>
                  <a:srgbClr val="4A5665"/>
                </a:solidFill>
                <a:latin typeface="IBM Plex Mono"/>
                <a:ea typeface="IBM Plex Mono"/>
                <a:cs typeface="IBM Plex Mono"/>
                <a:sym typeface="IBM Plex Mono"/>
              </a:rPr>
              <a:t>turbidity models used for previous offerings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om-mark-dark.png" id="454" name="Google Shape;4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" y="61264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4"/>
          <p:cNvSpPr txBox="1"/>
          <p:nvPr/>
        </p:nvSpPr>
        <p:spPr>
          <a:xfrm>
            <a:off x="1261872" y="6400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</a:t>
            </a:r>
            <a:r>
              <a:rPr b="0" i="0" lang="en-US" sz="2200">
                <a:solidFill>
                  <a:srgbClr val="ED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</a:t>
            </a:r>
            <a:r>
              <a:rPr b="0" i="0" lang="en-US" sz="2200">
                <a:solidFill>
                  <a:srgbClr val="E6EC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</a:t>
            </a:r>
            <a:r>
              <a:rPr b="0" i="0" lang="en-US" sz="2200">
                <a:solidFill>
                  <a:srgbClr val="DFEBE5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</a:t>
            </a:r>
            <a:r>
              <a:rPr b="0" i="0" lang="en-US" sz="2200">
                <a:solidFill>
                  <a:srgbClr val="D8EA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</a:t>
            </a:r>
            <a:r>
              <a:rPr b="0" i="0" lang="en-US" sz="2200">
                <a:solidFill>
                  <a:srgbClr val="D1E8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b="0" i="0" lang="en-US" sz="2200">
                <a:solidFill>
                  <a:srgbClr val="CBE7E7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</a:t>
            </a:r>
            <a:r>
              <a:rPr b="0" i="0" lang="en-US" sz="2200">
                <a:solidFill>
                  <a:srgbClr val="C4E5E7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</a:t>
            </a:r>
            <a:r>
              <a:rPr b="0" i="0" lang="en-US" sz="2200">
                <a:solidFill>
                  <a:srgbClr val="BDE4E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</a:t>
            </a:r>
            <a:r>
              <a:rPr b="0" i="0" lang="en-US" sz="2200">
                <a:solidFill>
                  <a:srgbClr val="B6E3E9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</a:t>
            </a:r>
            <a:r>
              <a:rPr b="0" i="0" lang="en-US" sz="2200">
                <a:solidFill>
                  <a:srgbClr val="AFE1E9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</a:t>
            </a:r>
            <a:r>
              <a:rPr b="0" i="0" lang="en-US" sz="2200">
                <a:solidFill>
                  <a:srgbClr val="A8E0E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 </a:t>
            </a:r>
            <a:r>
              <a:rPr b="0" i="0" lang="en-US" sz="1000">
                <a:solidFill>
                  <a:srgbClr val="A8E0EA"/>
                </a:solidFill>
                <a:latin typeface="IBM Plex Mono"/>
                <a:ea typeface="IBM Plex Mono"/>
                <a:cs typeface="IBM Plex Mono"/>
                <a:sym typeface="IBM Plex Mono"/>
              </a:rPr>
              <a:t>ANALYTICS</a:t>
            </a:r>
            <a:endParaRPr/>
          </a:p>
        </p:txBody>
      </p:sp>
      <p:sp>
        <p:nvSpPr>
          <p:cNvPr id="456" name="Google Shape;456;p24"/>
          <p:cNvSpPr/>
          <p:nvPr/>
        </p:nvSpPr>
        <p:spPr>
          <a:xfrm>
            <a:off x="841248" y="1993392"/>
            <a:ext cx="1463040" cy="25400"/>
          </a:xfrm>
          <a:prstGeom prst="rect">
            <a:avLst/>
          </a:prstGeom>
          <a:solidFill>
            <a:srgbClr val="FF6A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7" name="Google Shape;457;p24"/>
          <p:cNvSpPr txBox="1"/>
          <p:nvPr/>
        </p:nvSpPr>
        <p:spPr>
          <a:xfrm>
            <a:off x="841248" y="2267712"/>
            <a:ext cx="100584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Tell us what you're</a:t>
            </a:r>
            <a:br>
              <a:rPr b="0" i="0" lang="en-US" sz="52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</a:br>
            <a:r>
              <a:rPr lang="en-US" sz="5200">
                <a:solidFill>
                  <a:srgbClr val="F4EFE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working on.</a:t>
            </a:r>
            <a:endParaRPr/>
          </a:p>
        </p:txBody>
      </p:sp>
      <p:sp>
        <p:nvSpPr>
          <p:cNvPr id="458" name="Google Shape;458;p24"/>
          <p:cNvSpPr txBox="1"/>
          <p:nvPr/>
        </p:nvSpPr>
        <p:spPr>
          <a:xfrm>
            <a:off x="841248" y="5193792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4EFE3"/>
                </a:solidFill>
                <a:latin typeface="IBM Plex Sans"/>
                <a:ea typeface="IBM Plex Sans"/>
                <a:cs typeface="IBM Plex Sans"/>
                <a:sym typeface="IBM Plex Sans"/>
              </a:rPr>
              <a:t>Giles Fearon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A8E0EA"/>
                </a:solidFill>
                <a:latin typeface="IBM Plex Mono"/>
                <a:ea typeface="IBM Plex Mono"/>
                <a:cs typeface="IBM Plex Mono"/>
                <a:sym typeface="IBM Plex Mono"/>
              </a:rPr>
              <a:t>giles@oceanmotionanalytics.com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8A94A2"/>
                </a:solidFill>
                <a:latin typeface="IBM Plex Mono"/>
                <a:ea typeface="IBM Plex Mono"/>
                <a:cs typeface="IBM Plex Mono"/>
                <a:sym typeface="IBM Plex Mono"/>
              </a:rPr>
              <a:t>oceanmotionanalytics.com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