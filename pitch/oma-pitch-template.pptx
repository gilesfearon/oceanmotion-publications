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embeddedFontLst>
    <p:embeddedFont>
      <p:font typeface="Instrument Serif" charset="0"/>
      <p:regular r:id="rId18"/>
      <p:italic r:id="rId19"/>
    </p:embeddedFont>
    <p:embeddedFont>
      <p:font typeface="IBM Plex Sans" charset="0"/>
      <p:regular r:id="rId20"/>
      <p:bold r:id="rId21"/>
      <p:italic r:id="rId22"/>
      <p:boldItalic r:id="rId23"/>
    </p:embeddedFont>
    <p:embeddedFont>
      <p:font typeface="IBM Plex Mono" charset="0"/>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OPTION A (animated). Background is a seamless 6 s loop of the website's hero flow field, cyan only. Animates in PowerPoint slideshow view and in Google Slides present mode; a PDF export freezes frame 1. Keep either this slide or option B, not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OPTION B (still). Same field frozen, and it keeps the single orange accent streamline. Safer over screen share, where slow fine detail is what video codecs smear first. Keep either this slide or option A, not both.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streamlines.gif"/>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841248" y="2194560"/>
            <a:ext cx="1463040" cy="25400"/>
          </a:xfrm>
          <a:prstGeom prst="rect">
            <a:avLst/>
          </a:prstGeom>
          <a:solidFill>
            <a:srgbClr val="FF6A2B"/>
          </a:solidFill>
          <a:ln>
            <a:noFill/>
          </a:ln>
          <a:effectLst/>
        </p:spPr>
        <p:txBody>
          <a:bodyPr rtlCol="0" anchor="ctr"/>
          <a:lstStyle/>
          <a:p>
            <a:pPr algn="ctr"/>
          </a:p>
        </p:txBody>
      </p:sp>
      <p:pic>
        <p:nvPicPr>
          <p:cNvPr id="4" name="Picture 3" descr="om-mark-dark.png"/>
          <p:cNvPicPr>
            <a:picLocks noChangeAspect="1"/>
          </p:cNvPicPr>
          <p:nvPr/>
        </p:nvPicPr>
        <p:blipFill>
          <a:blip r:embed="rId3"/>
          <a:stretch>
            <a:fillRect/>
          </a:stretch>
        </p:blipFill>
        <p:spPr>
          <a:xfrm>
            <a:off x="795528" y="612648"/>
            <a:ext cx="420624" cy="420624"/>
          </a:xfrm>
          <a:prstGeom prst="rect">
            <a:avLst/>
          </a:prstGeom>
        </p:spPr>
      </p:pic>
      <p:sp>
        <p:nvSpPr>
          <p:cNvPr id="5" name="TextBox 4"/>
          <p:cNvSpPr txBox="1"/>
          <p:nvPr/>
        </p:nvSpPr>
        <p:spPr>
          <a:xfrm>
            <a:off x="1261872" y="640080"/>
            <a:ext cx="5486400" cy="457200"/>
          </a:xfrm>
          <a:prstGeom prst="rect">
            <a:avLst/>
          </a:prstGeom>
          <a:noFill/>
        </p:spPr>
        <p:txBody>
          <a:bodyPr wrap="square" anchor="t" lIns="0" rIns="0" tIns="0" bIns="0">
            <a:spAutoFit/>
          </a:bodyPr>
          <a:lstStyle/>
          <a:p>
            <a:r>
              <a:rPr sz="2200" b="0" i="0">
                <a:solidFill>
                  <a:srgbClr val="F4EFE3"/>
                </a:solidFill>
                <a:latin typeface="Instrument Serif"/>
              </a:rPr>
              <a:t>O</a:t>
            </a:r>
            <a:r>
              <a:rPr sz="2200" b="0" i="0">
                <a:solidFill>
                  <a:srgbClr val="EDEEE4"/>
                </a:solidFill>
                <a:latin typeface="Instrument Serif"/>
              </a:rPr>
              <a:t>c</a:t>
            </a:r>
            <a:r>
              <a:rPr sz="2200" b="0" i="0">
                <a:solidFill>
                  <a:srgbClr val="E6ECE4"/>
                </a:solidFill>
                <a:latin typeface="Instrument Serif"/>
              </a:rPr>
              <a:t>e</a:t>
            </a:r>
            <a:r>
              <a:rPr sz="2200" b="0" i="0">
                <a:solidFill>
                  <a:srgbClr val="DFEBE5"/>
                </a:solidFill>
                <a:latin typeface="Instrument Serif"/>
              </a:rPr>
              <a:t>a</a:t>
            </a:r>
            <a:r>
              <a:rPr sz="2200" b="0" i="0">
                <a:solidFill>
                  <a:srgbClr val="D8EAE6"/>
                </a:solidFill>
                <a:latin typeface="Instrument Serif"/>
              </a:rPr>
              <a:t>n</a:t>
            </a:r>
            <a:r>
              <a:rPr sz="2200" b="0" i="0">
                <a:solidFill>
                  <a:srgbClr val="D1E8E6"/>
                </a:solidFill>
                <a:latin typeface="Instrument Serif"/>
              </a:rPr>
              <a:t> </a:t>
            </a:r>
            <a:r>
              <a:rPr sz="2200" b="0" i="0">
                <a:solidFill>
                  <a:srgbClr val="CBE7E7"/>
                </a:solidFill>
                <a:latin typeface="Instrument Serif"/>
              </a:rPr>
              <a:t>M</a:t>
            </a:r>
            <a:r>
              <a:rPr sz="2200" b="0" i="0">
                <a:solidFill>
                  <a:srgbClr val="C4E5E7"/>
                </a:solidFill>
                <a:latin typeface="Instrument Serif"/>
              </a:rPr>
              <a:t>o</a:t>
            </a:r>
            <a:r>
              <a:rPr sz="2200" b="0" i="0">
                <a:solidFill>
                  <a:srgbClr val="BDE4E8"/>
                </a:solidFill>
                <a:latin typeface="Instrument Serif"/>
              </a:rPr>
              <a:t>t</a:t>
            </a:r>
            <a:r>
              <a:rPr sz="2200" b="0" i="0">
                <a:solidFill>
                  <a:srgbClr val="B6E3E9"/>
                </a:solidFill>
                <a:latin typeface="Instrument Serif"/>
              </a:rPr>
              <a:t>i</a:t>
            </a:r>
            <a:r>
              <a:rPr sz="2200" b="0" i="0">
                <a:solidFill>
                  <a:srgbClr val="AFE1E9"/>
                </a:solidFill>
                <a:latin typeface="Instrument Serif"/>
              </a:rPr>
              <a:t>o</a:t>
            </a:r>
            <a:r>
              <a:rPr sz="2200" b="0" i="0">
                <a:solidFill>
                  <a:srgbClr val="A8E0EA"/>
                </a:solidFill>
                <a:latin typeface="Instrument Serif"/>
              </a:rPr>
              <a:t>n</a:t>
            </a:r>
            <a:r>
              <a:rPr sz="2200" b="0" i="0">
                <a:solidFill>
                  <a:srgbClr val="A8E0EA"/>
                </a:solidFill>
                <a:latin typeface="Instrument Serif"/>
              </a:rPr>
              <a:t> </a:t>
            </a:r>
            <a:r>
              <a:rPr sz="1000" b="0" i="0" spc="220">
                <a:solidFill>
                  <a:srgbClr val="A8E0EA"/>
                </a:solidFill>
                <a:latin typeface="IBM Plex Mono"/>
              </a:rPr>
              <a:t>ANALYTICS</a:t>
            </a:r>
          </a:p>
        </p:txBody>
      </p:sp>
      <p:sp>
        <p:nvSpPr>
          <p:cNvPr id="6" name="TextBox 5"/>
          <p:cNvSpPr txBox="1"/>
          <p:nvPr/>
        </p:nvSpPr>
        <p:spPr>
          <a:xfrm>
            <a:off x="841248" y="2468880"/>
            <a:ext cx="9601200" cy="2560320"/>
          </a:xfrm>
          <a:prstGeom prst="rect">
            <a:avLst/>
          </a:prstGeom>
          <a:noFill/>
        </p:spPr>
        <p:txBody>
          <a:bodyPr wrap="square" anchor="t" lIns="0" rIns="0" tIns="0" bIns="0">
            <a:spAutoFit/>
          </a:bodyPr>
          <a:lstStyle/>
          <a:p>
            <a:pPr>
              <a:lnSpc>
                <a:spcPct val="102000"/>
              </a:lnSpc>
            </a:pPr>
            <a:r>
              <a:rPr sz="5800" b="0" i="0">
                <a:solidFill>
                  <a:srgbClr val="F4EFE3"/>
                </a:solidFill>
                <a:latin typeface="Instrument Serif"/>
              </a:rPr>
              <a:t>Ocean models, built for
</a:t>
            </a:r>
          </a:p>
          <a:p>
            <a:pPr>
              <a:lnSpc>
                <a:spcPct val="102000"/>
              </a:lnSpc>
            </a:pPr>
            <a:r>
              <a:rPr sz="5800" b="0" i="0">
                <a:solidFill>
                  <a:srgbClr val="F4EFE3"/>
                </a:solidFill>
                <a:latin typeface="Instrument Serif"/>
              </a:rPr>
              <a:t>decisions </a:t>
            </a:r>
            <a:r>
              <a:rPr sz="5800" b="0" i="1">
                <a:solidFill>
                  <a:srgbClr val="FF6A2B"/>
                </a:solidFill>
                <a:latin typeface="Instrument Serif"/>
              </a:rPr>
              <a:t>that can't wait</a:t>
            </a:r>
            <a:r>
              <a:rPr sz="5800" b="0" i="0">
                <a:solidFill>
                  <a:srgbClr val="F4EFE3"/>
                </a:solidFill>
                <a:latin typeface="Instrument Serif"/>
              </a:rPr>
              <a:t>.</a:t>
            </a:r>
          </a:p>
        </p:txBody>
      </p:sp>
      <p:sp>
        <p:nvSpPr>
          <p:cNvPr id="7" name="TextBox 6"/>
          <p:cNvSpPr txBox="1"/>
          <p:nvPr/>
        </p:nvSpPr>
        <p:spPr>
          <a:xfrm>
            <a:off x="841248" y="5394960"/>
            <a:ext cx="8229600" cy="914400"/>
          </a:xfrm>
          <a:prstGeom prst="rect">
            <a:avLst/>
          </a:prstGeom>
          <a:noFill/>
        </p:spPr>
        <p:txBody>
          <a:bodyPr wrap="square" anchor="t" lIns="0" rIns="0" tIns="0" bIns="0">
            <a:spAutoFit/>
          </a:bodyPr>
          <a:lstStyle/>
          <a:p>
            <a:r>
              <a:rPr sz="1100" b="0" i="0" spc="200">
                <a:solidFill>
                  <a:srgbClr val="A8E0EA"/>
                </a:solidFill>
                <a:latin typeface="IBM Plex Mono"/>
              </a:rPr>
              <a:t>PITCH DECK</a:t>
            </a:r>
          </a:p>
          <a:p>
            <a:pPr>
              <a:spcBef>
                <a:spcPts val="600"/>
              </a:spcBef>
            </a:pPr>
            <a:r>
              <a:rPr sz="1400" b="0" i="0">
                <a:solidFill>
                  <a:srgbClr val="8A94A2"/>
                </a:solidFill>
                <a:latin typeface="IBM Plex Sans"/>
              </a:rPr>
              <a:t>Prepared for [Client]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streamlines.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841248" y="2194560"/>
            <a:ext cx="1463040" cy="25400"/>
          </a:xfrm>
          <a:prstGeom prst="rect">
            <a:avLst/>
          </a:prstGeom>
          <a:solidFill>
            <a:srgbClr val="FF6A2B"/>
          </a:solidFill>
          <a:ln>
            <a:noFill/>
          </a:ln>
          <a:effectLst/>
        </p:spPr>
        <p:txBody>
          <a:bodyPr rtlCol="0" anchor="ctr"/>
          <a:lstStyle/>
          <a:p>
            <a:pPr algn="ctr"/>
          </a:p>
        </p:txBody>
      </p:sp>
      <p:pic>
        <p:nvPicPr>
          <p:cNvPr id="4" name="Picture 3" descr="om-mark-dark.png"/>
          <p:cNvPicPr>
            <a:picLocks noChangeAspect="1"/>
          </p:cNvPicPr>
          <p:nvPr/>
        </p:nvPicPr>
        <p:blipFill>
          <a:blip r:embed="rId3"/>
          <a:stretch>
            <a:fillRect/>
          </a:stretch>
        </p:blipFill>
        <p:spPr>
          <a:xfrm>
            <a:off x="795528" y="612648"/>
            <a:ext cx="420624" cy="420624"/>
          </a:xfrm>
          <a:prstGeom prst="rect">
            <a:avLst/>
          </a:prstGeom>
        </p:spPr>
      </p:pic>
      <p:sp>
        <p:nvSpPr>
          <p:cNvPr id="5" name="TextBox 4"/>
          <p:cNvSpPr txBox="1"/>
          <p:nvPr/>
        </p:nvSpPr>
        <p:spPr>
          <a:xfrm>
            <a:off x="1261872" y="640080"/>
            <a:ext cx="5486400" cy="457200"/>
          </a:xfrm>
          <a:prstGeom prst="rect">
            <a:avLst/>
          </a:prstGeom>
          <a:noFill/>
        </p:spPr>
        <p:txBody>
          <a:bodyPr wrap="square" anchor="t" lIns="0" rIns="0" tIns="0" bIns="0">
            <a:spAutoFit/>
          </a:bodyPr>
          <a:lstStyle/>
          <a:p>
            <a:r>
              <a:rPr sz="2200" b="0" i="0">
                <a:solidFill>
                  <a:srgbClr val="F4EFE3"/>
                </a:solidFill>
                <a:latin typeface="Instrument Serif"/>
              </a:rPr>
              <a:t>O</a:t>
            </a:r>
            <a:r>
              <a:rPr sz="2200" b="0" i="0">
                <a:solidFill>
                  <a:srgbClr val="EDEEE4"/>
                </a:solidFill>
                <a:latin typeface="Instrument Serif"/>
              </a:rPr>
              <a:t>c</a:t>
            </a:r>
            <a:r>
              <a:rPr sz="2200" b="0" i="0">
                <a:solidFill>
                  <a:srgbClr val="E6ECE4"/>
                </a:solidFill>
                <a:latin typeface="Instrument Serif"/>
              </a:rPr>
              <a:t>e</a:t>
            </a:r>
            <a:r>
              <a:rPr sz="2200" b="0" i="0">
                <a:solidFill>
                  <a:srgbClr val="DFEBE5"/>
                </a:solidFill>
                <a:latin typeface="Instrument Serif"/>
              </a:rPr>
              <a:t>a</a:t>
            </a:r>
            <a:r>
              <a:rPr sz="2200" b="0" i="0">
                <a:solidFill>
                  <a:srgbClr val="D8EAE6"/>
                </a:solidFill>
                <a:latin typeface="Instrument Serif"/>
              </a:rPr>
              <a:t>n</a:t>
            </a:r>
            <a:r>
              <a:rPr sz="2200" b="0" i="0">
                <a:solidFill>
                  <a:srgbClr val="D1E8E6"/>
                </a:solidFill>
                <a:latin typeface="Instrument Serif"/>
              </a:rPr>
              <a:t> </a:t>
            </a:r>
            <a:r>
              <a:rPr sz="2200" b="0" i="0">
                <a:solidFill>
                  <a:srgbClr val="CBE7E7"/>
                </a:solidFill>
                <a:latin typeface="Instrument Serif"/>
              </a:rPr>
              <a:t>M</a:t>
            </a:r>
            <a:r>
              <a:rPr sz="2200" b="0" i="0">
                <a:solidFill>
                  <a:srgbClr val="C4E5E7"/>
                </a:solidFill>
                <a:latin typeface="Instrument Serif"/>
              </a:rPr>
              <a:t>o</a:t>
            </a:r>
            <a:r>
              <a:rPr sz="2200" b="0" i="0">
                <a:solidFill>
                  <a:srgbClr val="BDE4E8"/>
                </a:solidFill>
                <a:latin typeface="Instrument Serif"/>
              </a:rPr>
              <a:t>t</a:t>
            </a:r>
            <a:r>
              <a:rPr sz="2200" b="0" i="0">
                <a:solidFill>
                  <a:srgbClr val="B6E3E9"/>
                </a:solidFill>
                <a:latin typeface="Instrument Serif"/>
              </a:rPr>
              <a:t>i</a:t>
            </a:r>
            <a:r>
              <a:rPr sz="2200" b="0" i="0">
                <a:solidFill>
                  <a:srgbClr val="AFE1E9"/>
                </a:solidFill>
                <a:latin typeface="Instrument Serif"/>
              </a:rPr>
              <a:t>o</a:t>
            </a:r>
            <a:r>
              <a:rPr sz="2200" b="0" i="0">
                <a:solidFill>
                  <a:srgbClr val="A8E0EA"/>
                </a:solidFill>
                <a:latin typeface="Instrument Serif"/>
              </a:rPr>
              <a:t>n</a:t>
            </a:r>
            <a:r>
              <a:rPr sz="2200" b="0" i="0">
                <a:solidFill>
                  <a:srgbClr val="A8E0EA"/>
                </a:solidFill>
                <a:latin typeface="Instrument Serif"/>
              </a:rPr>
              <a:t> </a:t>
            </a:r>
            <a:r>
              <a:rPr sz="1000" b="0" i="0" spc="220">
                <a:solidFill>
                  <a:srgbClr val="A8E0EA"/>
                </a:solidFill>
                <a:latin typeface="IBM Plex Mono"/>
              </a:rPr>
              <a:t>ANALYTICS</a:t>
            </a:r>
          </a:p>
        </p:txBody>
      </p:sp>
      <p:sp>
        <p:nvSpPr>
          <p:cNvPr id="6" name="TextBox 5"/>
          <p:cNvSpPr txBox="1"/>
          <p:nvPr/>
        </p:nvSpPr>
        <p:spPr>
          <a:xfrm>
            <a:off x="841248" y="2468880"/>
            <a:ext cx="9601200" cy="2560320"/>
          </a:xfrm>
          <a:prstGeom prst="rect">
            <a:avLst/>
          </a:prstGeom>
          <a:noFill/>
        </p:spPr>
        <p:txBody>
          <a:bodyPr wrap="square" anchor="t" lIns="0" rIns="0" tIns="0" bIns="0">
            <a:spAutoFit/>
          </a:bodyPr>
          <a:lstStyle/>
          <a:p>
            <a:pPr>
              <a:lnSpc>
                <a:spcPct val="102000"/>
              </a:lnSpc>
            </a:pPr>
            <a:r>
              <a:rPr sz="5800" b="0" i="0">
                <a:solidFill>
                  <a:srgbClr val="F4EFE3"/>
                </a:solidFill>
                <a:latin typeface="Instrument Serif"/>
              </a:rPr>
              <a:t>Ocean models, built for
</a:t>
            </a:r>
          </a:p>
          <a:p>
            <a:pPr>
              <a:lnSpc>
                <a:spcPct val="102000"/>
              </a:lnSpc>
            </a:pPr>
            <a:r>
              <a:rPr sz="5800" b="0" i="0">
                <a:solidFill>
                  <a:srgbClr val="F4EFE3"/>
                </a:solidFill>
                <a:latin typeface="Instrument Serif"/>
              </a:rPr>
              <a:t>decisions </a:t>
            </a:r>
            <a:r>
              <a:rPr sz="5800" b="0" i="1">
                <a:solidFill>
                  <a:srgbClr val="FF6A2B"/>
                </a:solidFill>
                <a:latin typeface="Instrument Serif"/>
              </a:rPr>
              <a:t>that can't wait</a:t>
            </a:r>
            <a:r>
              <a:rPr sz="5800" b="0" i="0">
                <a:solidFill>
                  <a:srgbClr val="F4EFE3"/>
                </a:solidFill>
                <a:latin typeface="Instrument Serif"/>
              </a:rPr>
              <a:t>.</a:t>
            </a:r>
          </a:p>
        </p:txBody>
      </p:sp>
      <p:sp>
        <p:nvSpPr>
          <p:cNvPr id="7" name="TextBox 6"/>
          <p:cNvSpPr txBox="1"/>
          <p:nvPr/>
        </p:nvSpPr>
        <p:spPr>
          <a:xfrm>
            <a:off x="841248" y="5394960"/>
            <a:ext cx="8229600" cy="914400"/>
          </a:xfrm>
          <a:prstGeom prst="rect">
            <a:avLst/>
          </a:prstGeom>
          <a:noFill/>
        </p:spPr>
        <p:txBody>
          <a:bodyPr wrap="square" anchor="t" lIns="0" rIns="0" tIns="0" bIns="0">
            <a:spAutoFit/>
          </a:bodyPr>
          <a:lstStyle/>
          <a:p>
            <a:r>
              <a:rPr sz="1100" b="0" i="0" spc="200">
                <a:solidFill>
                  <a:srgbClr val="A8E0EA"/>
                </a:solidFill>
                <a:latin typeface="IBM Plex Mono"/>
              </a:rPr>
              <a:t>PITCH DECK</a:t>
            </a:r>
          </a:p>
          <a:p>
            <a:pPr>
              <a:spcBef>
                <a:spcPts val="600"/>
              </a:spcBef>
            </a:pPr>
            <a:r>
              <a:rPr sz="1400" b="0" i="0">
                <a:solidFill>
                  <a:srgbClr val="8A94A2"/>
                </a:solidFill>
                <a:latin typeface="IBM Plex Sans"/>
              </a:rPr>
              <a:t>Prepared for [Client]  ·  September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841248" y="957580"/>
            <a:ext cx="384048" cy="15240"/>
          </a:xfrm>
          <a:prstGeom prst="rect">
            <a:avLst/>
          </a:prstGeom>
          <a:solidFill>
            <a:srgbClr val="4A5665"/>
          </a:solidFill>
          <a:ln>
            <a:noFill/>
          </a:ln>
          <a:effectLst/>
        </p:spPr>
        <p:txBody>
          <a:bodyPr rtlCol="0" anchor="ctr"/>
          <a:lstStyle/>
          <a:p>
            <a:pPr algn="ctr"/>
          </a:p>
        </p:txBody>
      </p:sp>
      <p:sp>
        <p:nvSpPr>
          <p:cNvPr id="4" name="TextBox 3"/>
          <p:cNvSpPr txBox="1"/>
          <p:nvPr/>
        </p:nvSpPr>
        <p:spPr>
          <a:xfrm>
            <a:off x="1371600" y="868680"/>
            <a:ext cx="5486400" cy="365760"/>
          </a:xfrm>
          <a:prstGeom prst="rect">
            <a:avLst/>
          </a:prstGeom>
          <a:noFill/>
        </p:spPr>
        <p:txBody>
          <a:bodyPr wrap="square" anchor="t" lIns="0" rIns="0" tIns="0" bIns="0">
            <a:spAutoFit/>
          </a:bodyPr>
          <a:lstStyle/>
          <a:p>
            <a:r>
              <a:rPr sz="1200" b="0" i="0" spc="180">
                <a:solidFill>
                  <a:srgbClr val="4A5665"/>
                </a:solidFill>
                <a:latin typeface="IBM Plex Mono"/>
              </a:rPr>
              <a:t>CONTENTS</a:t>
            </a:r>
          </a:p>
        </p:txBody>
      </p:sp>
      <p:sp>
        <p:nvSpPr>
          <p:cNvPr id="5" name="TextBox 4"/>
          <p:cNvSpPr txBox="1"/>
          <p:nvPr/>
        </p:nvSpPr>
        <p:spPr>
          <a:xfrm>
            <a:off x="841248" y="1280160"/>
            <a:ext cx="8229600" cy="914400"/>
          </a:xfrm>
          <a:prstGeom prst="rect">
            <a:avLst/>
          </a:prstGeom>
          <a:noFill/>
        </p:spPr>
        <p:txBody>
          <a:bodyPr wrap="square" anchor="t" lIns="0" rIns="0" tIns="0" bIns="0">
            <a:spAutoFit/>
          </a:bodyPr>
          <a:lstStyle/>
          <a:p>
            <a:r>
              <a:rPr sz="4400" b="0" i="0">
                <a:solidFill>
                  <a:srgbClr val="0B1420"/>
                </a:solidFill>
                <a:latin typeface="Instrument Serif"/>
              </a:rPr>
              <a:t>What we'll cover.</a:t>
            </a:r>
          </a:p>
        </p:txBody>
      </p:sp>
      <p:sp>
        <p:nvSpPr>
          <p:cNvPr id="6" name="TextBox 5"/>
          <p:cNvSpPr txBox="1"/>
          <p:nvPr/>
        </p:nvSpPr>
        <p:spPr>
          <a:xfrm>
            <a:off x="841248" y="2651760"/>
            <a:ext cx="9144000" cy="3657600"/>
          </a:xfrm>
          <a:prstGeom prst="rect">
            <a:avLst/>
          </a:prstGeom>
          <a:noFill/>
        </p:spPr>
        <p:txBody>
          <a:bodyPr wrap="square" anchor="t" lIns="0" rIns="0" tIns="0" bIns="0">
            <a:spAutoFit/>
          </a:bodyPr>
          <a:lstStyle/>
          <a:p>
            <a:pPr>
              <a:spcAft>
                <a:spcPts val="1400"/>
              </a:spcAft>
            </a:pPr>
            <a:r>
              <a:rPr sz="1500" b="0" i="0" spc="80">
                <a:solidFill>
                  <a:srgbClr val="FF6A2B"/>
                </a:solidFill>
                <a:latin typeface="IBM Plex Mono"/>
              </a:rPr>
              <a:t>01</a:t>
            </a:r>
            <a:r>
              <a:rPr sz="2200" b="0" i="0">
                <a:solidFill>
                  <a:srgbClr val="0B1420"/>
                </a:solidFill>
                <a:latin typeface="IBM Plex Sans"/>
              </a:rPr>
              <a:t>    The problem you're solving</a:t>
            </a:r>
          </a:p>
          <a:p>
            <a:pPr>
              <a:spcAft>
                <a:spcPts val="1400"/>
              </a:spcAft>
            </a:pPr>
            <a:r>
              <a:rPr sz="1500" b="0" i="0" spc="80">
                <a:solidFill>
                  <a:srgbClr val="FF6A2B"/>
                </a:solidFill>
                <a:latin typeface="IBM Plex Mono"/>
              </a:rPr>
              <a:t>02</a:t>
            </a:r>
            <a:r>
              <a:rPr sz="2200" b="0" i="0">
                <a:solidFill>
                  <a:srgbClr val="0B1420"/>
                </a:solidFill>
                <a:latin typeface="IBM Plex Sans"/>
              </a:rPr>
              <a:t>    How we model it</a:t>
            </a:r>
          </a:p>
          <a:p>
            <a:pPr>
              <a:spcAft>
                <a:spcPts val="1400"/>
              </a:spcAft>
            </a:pPr>
            <a:r>
              <a:rPr sz="1500" b="0" i="0" spc="80">
                <a:solidFill>
                  <a:srgbClr val="FF6A2B"/>
                </a:solidFill>
                <a:latin typeface="IBM Plex Mono"/>
              </a:rPr>
              <a:t>03</a:t>
            </a:r>
            <a:r>
              <a:rPr sz="2200" b="0" i="0">
                <a:solidFill>
                  <a:srgbClr val="0B1420"/>
                </a:solidFill>
                <a:latin typeface="IBM Plex Sans"/>
              </a:rPr>
              <a:t>    Live forecast — your site</a:t>
            </a:r>
          </a:p>
          <a:p>
            <a:pPr>
              <a:spcAft>
                <a:spcPts val="1400"/>
              </a:spcAft>
            </a:pPr>
            <a:r>
              <a:rPr sz="1500" b="0" i="0" spc="80">
                <a:solidFill>
                  <a:srgbClr val="FF6A2B"/>
                </a:solidFill>
                <a:latin typeface="IBM Plex Mono"/>
              </a:rPr>
              <a:t>04</a:t>
            </a:r>
            <a:r>
              <a:rPr sz="2200" b="0" i="0">
                <a:solidFill>
                  <a:srgbClr val="0B1420"/>
                </a:solidFill>
                <a:latin typeface="IBM Plex Sans"/>
              </a:rPr>
              <a:t>    What you'd receive, day to day</a:t>
            </a:r>
          </a:p>
          <a:p>
            <a:pPr>
              <a:spcAft>
                <a:spcPts val="1400"/>
              </a:spcAft>
            </a:pPr>
            <a:r>
              <a:rPr sz="1500" b="0" i="0" spc="80">
                <a:solidFill>
                  <a:srgbClr val="FF6A2B"/>
                </a:solidFill>
                <a:latin typeface="IBM Plex Mono"/>
              </a:rPr>
              <a:t>05</a:t>
            </a:r>
            <a:r>
              <a:rPr sz="2200" b="0" i="0">
                <a:solidFill>
                  <a:srgbClr val="0B1420"/>
                </a:solidFill>
                <a:latin typeface="IBM Plex Sans"/>
              </a:rPr>
              <a:t>    Scope, timeline &amp; next steps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C33"/>
          </a:solidFill>
          <a:ln>
            <a:noFill/>
          </a:ln>
          <a:effectLst/>
        </p:spPr>
        <p:txBody>
          <a:bodyPr rtlCol="0" anchor="ctr"/>
          <a:lstStyle/>
          <a:p>
            <a:pPr algn="ctr"/>
          </a:p>
        </p:txBody>
      </p:sp>
      <p:sp>
        <p:nvSpPr>
          <p:cNvPr id="3" name="Rectangle 2"/>
          <p:cNvSpPr/>
          <p:nvPr/>
        </p:nvSpPr>
        <p:spPr>
          <a:xfrm>
            <a:off x="841248" y="2832100"/>
            <a:ext cx="384048" cy="15240"/>
          </a:xfrm>
          <a:prstGeom prst="rect">
            <a:avLst/>
          </a:prstGeom>
          <a:solidFill>
            <a:srgbClr val="4FC3D7"/>
          </a:solidFill>
          <a:ln>
            <a:noFill/>
          </a:ln>
          <a:effectLst/>
        </p:spPr>
        <p:txBody>
          <a:bodyPr rtlCol="0" anchor="ctr"/>
          <a:lstStyle/>
          <a:p>
            <a:pPr algn="ctr"/>
          </a:p>
        </p:txBody>
      </p:sp>
      <p:sp>
        <p:nvSpPr>
          <p:cNvPr id="4" name="TextBox 3"/>
          <p:cNvSpPr txBox="1"/>
          <p:nvPr/>
        </p:nvSpPr>
        <p:spPr>
          <a:xfrm>
            <a:off x="1371600" y="2743200"/>
            <a:ext cx="5486400" cy="365760"/>
          </a:xfrm>
          <a:prstGeom prst="rect">
            <a:avLst/>
          </a:prstGeom>
          <a:noFill/>
        </p:spPr>
        <p:txBody>
          <a:bodyPr wrap="square" anchor="t" lIns="0" rIns="0" tIns="0" bIns="0">
            <a:spAutoFit/>
          </a:bodyPr>
          <a:lstStyle/>
          <a:p>
            <a:r>
              <a:rPr sz="1200" b="0" i="0" spc="180">
                <a:solidFill>
                  <a:srgbClr val="4FC3D7"/>
                </a:solidFill>
                <a:latin typeface="IBM Plex Mono"/>
              </a:rPr>
              <a:t>SECTION 01</a:t>
            </a:r>
          </a:p>
        </p:txBody>
      </p:sp>
      <p:sp>
        <p:nvSpPr>
          <p:cNvPr id="5" name="TextBox 4"/>
          <p:cNvSpPr txBox="1"/>
          <p:nvPr/>
        </p:nvSpPr>
        <p:spPr>
          <a:xfrm>
            <a:off x="841248" y="3200400"/>
            <a:ext cx="10058400" cy="1828800"/>
          </a:xfrm>
          <a:prstGeom prst="rect">
            <a:avLst/>
          </a:prstGeom>
          <a:noFill/>
        </p:spPr>
        <p:txBody>
          <a:bodyPr wrap="square" anchor="t" lIns="0" rIns="0" tIns="0" bIns="0">
            <a:spAutoFit/>
          </a:bodyPr>
          <a:lstStyle/>
          <a:p>
            <a:pPr>
              <a:lnSpc>
                <a:spcPct val="103000"/>
              </a:lnSpc>
            </a:pPr>
            <a:r>
              <a:rPr sz="6000" b="0" i="0">
                <a:solidFill>
                  <a:srgbClr val="F4EFE3"/>
                </a:solidFill>
                <a:latin typeface="Instrument Serif"/>
              </a:rPr>
              <a:t>How we </a:t>
            </a:r>
            <a:r>
              <a:rPr sz="6000" b="0" i="1">
                <a:solidFill>
                  <a:srgbClr val="FF6A2B"/>
                </a:solidFill>
                <a:latin typeface="Instrument Serif"/>
              </a:rPr>
              <a:t>model</a:t>
            </a:r>
            <a:r>
              <a:rPr sz="6000" b="0" i="0">
                <a:solidFill>
                  <a:srgbClr val="F4EFE3"/>
                </a:solidFill>
                <a:latin typeface="Instrument Serif"/>
              </a:rPr>
              <a:t> your water.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841248" y="957580"/>
            <a:ext cx="384048" cy="15240"/>
          </a:xfrm>
          <a:prstGeom prst="rect">
            <a:avLst/>
          </a:prstGeom>
          <a:solidFill>
            <a:srgbClr val="4A5665"/>
          </a:solidFill>
          <a:ln>
            <a:noFill/>
          </a:ln>
          <a:effectLst/>
        </p:spPr>
        <p:txBody>
          <a:bodyPr rtlCol="0" anchor="ctr"/>
          <a:lstStyle/>
          <a:p>
            <a:pPr algn="ctr"/>
          </a:p>
        </p:txBody>
      </p:sp>
      <p:sp>
        <p:nvSpPr>
          <p:cNvPr id="4" name="TextBox 3"/>
          <p:cNvSpPr txBox="1"/>
          <p:nvPr/>
        </p:nvSpPr>
        <p:spPr>
          <a:xfrm>
            <a:off x="1371600" y="868680"/>
            <a:ext cx="5486400" cy="365760"/>
          </a:xfrm>
          <a:prstGeom prst="rect">
            <a:avLst/>
          </a:prstGeom>
          <a:noFill/>
        </p:spPr>
        <p:txBody>
          <a:bodyPr wrap="square" anchor="t" lIns="0" rIns="0" tIns="0" bIns="0">
            <a:spAutoFit/>
          </a:bodyPr>
          <a:lstStyle/>
          <a:p>
            <a:r>
              <a:rPr sz="1200" b="0" i="0" spc="180">
                <a:solidFill>
                  <a:srgbClr val="4A5665"/>
                </a:solidFill>
                <a:latin typeface="IBM Plex Mono"/>
              </a:rPr>
              <a:t>APPROACH</a:t>
            </a:r>
          </a:p>
        </p:txBody>
      </p:sp>
      <p:sp>
        <p:nvSpPr>
          <p:cNvPr id="5" name="TextBox 4"/>
          <p:cNvSpPr txBox="1"/>
          <p:nvPr/>
        </p:nvSpPr>
        <p:spPr>
          <a:xfrm>
            <a:off x="841248" y="1280160"/>
            <a:ext cx="9601200" cy="1280160"/>
          </a:xfrm>
          <a:prstGeom prst="rect">
            <a:avLst/>
          </a:prstGeom>
          <a:noFill/>
        </p:spPr>
        <p:txBody>
          <a:bodyPr wrap="square" anchor="t" lIns="0" rIns="0" tIns="0" bIns="0">
            <a:spAutoFit/>
          </a:bodyPr>
          <a:lstStyle/>
          <a:p>
            <a:pPr>
              <a:lnSpc>
                <a:spcPct val="104000"/>
              </a:lnSpc>
            </a:pPr>
            <a:r>
              <a:rPr sz="4200" b="0" i="0">
                <a:solidFill>
                  <a:srgbClr val="0B1420"/>
                </a:solidFill>
                <a:latin typeface="Instrument Serif"/>
              </a:rPr>
              <a:t>Physics first, </a:t>
            </a:r>
            <a:r>
              <a:rPr sz="4200" b="0" i="1">
                <a:solidFill>
                  <a:srgbClr val="FF6A2B"/>
                </a:solidFill>
                <a:latin typeface="Instrument Serif"/>
              </a:rPr>
              <a:t>tuned to your site</a:t>
            </a:r>
            <a:r>
              <a:rPr sz="4200" b="0" i="0">
                <a:solidFill>
                  <a:srgbClr val="0B1420"/>
                </a:solidFill>
                <a:latin typeface="Instrument Serif"/>
              </a:rPr>
              <a:t>.</a:t>
            </a:r>
          </a:p>
        </p:txBody>
      </p:sp>
      <p:sp>
        <p:nvSpPr>
          <p:cNvPr id="6" name="TextBox 5"/>
          <p:cNvSpPr txBox="1"/>
          <p:nvPr/>
        </p:nvSpPr>
        <p:spPr>
          <a:xfrm>
            <a:off x="841248" y="2834640"/>
            <a:ext cx="7680960" cy="3108960"/>
          </a:xfrm>
          <a:prstGeom prst="rect">
            <a:avLst/>
          </a:prstGeom>
          <a:noFill/>
        </p:spPr>
        <p:txBody>
          <a:bodyPr wrap="square" anchor="t" lIns="0" rIns="0" tIns="0" bIns="0">
            <a:spAutoFit/>
          </a:bodyPr>
          <a:lstStyle/>
          <a:p>
            <a:pPr>
              <a:lnSpc>
                <a:spcPct val="140000"/>
              </a:lnSpc>
              <a:spcAft>
                <a:spcPts val="1600"/>
              </a:spcAft>
            </a:pPr>
            <a:r>
              <a:rPr sz="1900" b="0" i="0">
                <a:solidFill>
                  <a:srgbClr val="FF6A2B"/>
                </a:solidFill>
                <a:latin typeface="IBM Plex Sans"/>
              </a:rPr>
              <a:t>—  </a:t>
            </a:r>
            <a:r>
              <a:rPr sz="1900" b="0" i="0">
                <a:solidFill>
                  <a:srgbClr val="4A5665"/>
                </a:solidFill>
                <a:latin typeface="IBM Plex Sans"/>
              </a:rPr>
              <a:t>A regional ocean model nested down to the port, plant or site of interest.</a:t>
            </a:r>
          </a:p>
          <a:p>
            <a:pPr>
              <a:lnSpc>
                <a:spcPct val="140000"/>
              </a:lnSpc>
              <a:spcAft>
                <a:spcPts val="1600"/>
              </a:spcAft>
            </a:pPr>
            <a:r>
              <a:rPr sz="1900" b="0" i="0">
                <a:solidFill>
                  <a:srgbClr val="FF6A2B"/>
                </a:solidFill>
                <a:latin typeface="IBM Plex Sans"/>
              </a:rPr>
              <a:t>—  </a:t>
            </a:r>
            <a:r>
              <a:rPr sz="1900" b="0" i="0">
                <a:solidFill>
                  <a:srgbClr val="4A5665"/>
                </a:solidFill>
                <a:latin typeface="IBM Plex Sans"/>
              </a:rPr>
              <a:t>Forced with the best available atmospheric, tidal and boundary data, updated every day.</a:t>
            </a:r>
          </a:p>
          <a:p>
            <a:pPr>
              <a:lnSpc>
                <a:spcPct val="140000"/>
              </a:lnSpc>
              <a:spcAft>
                <a:spcPts val="1600"/>
              </a:spcAft>
            </a:pPr>
            <a:r>
              <a:rPr sz="1900" b="0" i="0">
                <a:solidFill>
                  <a:srgbClr val="FF6A2B"/>
                </a:solidFill>
                <a:latin typeface="IBM Plex Sans"/>
              </a:rPr>
              <a:t>—  </a:t>
            </a:r>
            <a:r>
              <a:rPr sz="1900" b="0" i="0">
                <a:solidFill>
                  <a:srgbClr val="4A5665"/>
                </a:solidFill>
                <a:latin typeface="IBM Plex Sans"/>
              </a:rPr>
              <a:t>Outputs framed as the decision you actually make — operability windows, go/no-go, thresholds.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841248" y="957580"/>
            <a:ext cx="384048" cy="15240"/>
          </a:xfrm>
          <a:prstGeom prst="rect">
            <a:avLst/>
          </a:prstGeom>
          <a:solidFill>
            <a:srgbClr val="4A5665"/>
          </a:solidFill>
          <a:ln>
            <a:noFill/>
          </a:ln>
          <a:effectLst/>
        </p:spPr>
        <p:txBody>
          <a:bodyPr rtlCol="0" anchor="ctr"/>
          <a:lstStyle/>
          <a:p>
            <a:pPr algn="ctr"/>
          </a:p>
        </p:txBody>
      </p:sp>
      <p:sp>
        <p:nvSpPr>
          <p:cNvPr id="4" name="TextBox 3"/>
          <p:cNvSpPr txBox="1"/>
          <p:nvPr/>
        </p:nvSpPr>
        <p:spPr>
          <a:xfrm>
            <a:off x="1371600" y="868680"/>
            <a:ext cx="5486400" cy="365760"/>
          </a:xfrm>
          <a:prstGeom prst="rect">
            <a:avLst/>
          </a:prstGeom>
          <a:noFill/>
        </p:spPr>
        <p:txBody>
          <a:bodyPr wrap="square" anchor="t" lIns="0" rIns="0" tIns="0" bIns="0">
            <a:spAutoFit/>
          </a:bodyPr>
          <a:lstStyle/>
          <a:p>
            <a:r>
              <a:rPr sz="1200" b="0" i="0" spc="180">
                <a:solidFill>
                  <a:srgbClr val="4A5665"/>
                </a:solidFill>
                <a:latin typeface="IBM Plex Mono"/>
              </a:rPr>
              <a:t>WHAT WE DO</a:t>
            </a:r>
          </a:p>
        </p:txBody>
      </p:sp>
      <p:sp>
        <p:nvSpPr>
          <p:cNvPr id="5" name="TextBox 4"/>
          <p:cNvSpPr txBox="1"/>
          <p:nvPr/>
        </p:nvSpPr>
        <p:spPr>
          <a:xfrm>
            <a:off x="841248" y="1280160"/>
            <a:ext cx="9144000" cy="914400"/>
          </a:xfrm>
          <a:prstGeom prst="rect">
            <a:avLst/>
          </a:prstGeom>
          <a:noFill/>
        </p:spPr>
        <p:txBody>
          <a:bodyPr wrap="square" anchor="t" lIns="0" rIns="0" tIns="0" bIns="0">
            <a:spAutoFit/>
          </a:bodyPr>
          <a:lstStyle/>
          <a:p>
            <a:r>
              <a:rPr sz="4200" b="0" i="0">
                <a:solidFill>
                  <a:srgbClr val="0B1420"/>
                </a:solidFill>
                <a:latin typeface="Instrument Serif"/>
              </a:rPr>
              <a:t>From physics to decisions.</a:t>
            </a:r>
          </a:p>
        </p:txBody>
      </p:sp>
      <p:sp>
        <p:nvSpPr>
          <p:cNvPr id="6" name="Rectangle 5"/>
          <p:cNvSpPr/>
          <p:nvPr/>
        </p:nvSpPr>
        <p:spPr>
          <a:xfrm>
            <a:off x="841248" y="2651760"/>
            <a:ext cx="5074920" cy="3108960"/>
          </a:xfrm>
          <a:prstGeom prst="rect">
            <a:avLst/>
          </a:prstGeom>
          <a:solidFill>
            <a:srgbClr val="F1F3F6"/>
          </a:solidFill>
          <a:ln>
            <a:noFill/>
          </a:ln>
          <a:effectLst/>
        </p:spPr>
        <p:txBody>
          <a:bodyPr rtlCol="0" anchor="ctr"/>
          <a:lstStyle/>
          <a:p>
            <a:pPr algn="ctr"/>
          </a:p>
        </p:txBody>
      </p:sp>
      <p:sp>
        <p:nvSpPr>
          <p:cNvPr id="7" name="Rectangle 6"/>
          <p:cNvSpPr/>
          <p:nvPr/>
        </p:nvSpPr>
        <p:spPr>
          <a:xfrm>
            <a:off x="841248" y="2651760"/>
            <a:ext cx="5074920" cy="38100"/>
          </a:xfrm>
          <a:prstGeom prst="rect">
            <a:avLst/>
          </a:prstGeom>
          <a:solidFill>
            <a:srgbClr val="FF6A2B"/>
          </a:solidFill>
          <a:ln>
            <a:noFill/>
          </a:ln>
          <a:effectLst/>
        </p:spPr>
        <p:txBody>
          <a:bodyPr rtlCol="0" anchor="ctr"/>
          <a:lstStyle/>
          <a:p>
            <a:pPr algn="ctr"/>
          </a:p>
        </p:txBody>
      </p:sp>
      <p:sp>
        <p:nvSpPr>
          <p:cNvPr id="8" name="TextBox 7"/>
          <p:cNvSpPr txBox="1"/>
          <p:nvPr/>
        </p:nvSpPr>
        <p:spPr>
          <a:xfrm>
            <a:off x="1252728" y="2971800"/>
            <a:ext cx="4251960" cy="365760"/>
          </a:xfrm>
          <a:prstGeom prst="rect">
            <a:avLst/>
          </a:prstGeom>
          <a:noFill/>
        </p:spPr>
        <p:txBody>
          <a:bodyPr wrap="square" anchor="t" lIns="0" rIns="0" tIns="0" bIns="0">
            <a:spAutoFit/>
          </a:bodyPr>
          <a:lstStyle/>
          <a:p>
            <a:r>
              <a:rPr sz="1100" b="0" i="0" spc="180">
                <a:solidFill>
                  <a:srgbClr val="FF6A2B"/>
                </a:solidFill>
                <a:latin typeface="IBM Plex Mono"/>
              </a:rPr>
              <a:t>RECURRING</a:t>
            </a:r>
          </a:p>
        </p:txBody>
      </p:sp>
      <p:sp>
        <p:nvSpPr>
          <p:cNvPr id="9" name="TextBox 8"/>
          <p:cNvSpPr txBox="1"/>
          <p:nvPr/>
        </p:nvSpPr>
        <p:spPr>
          <a:xfrm>
            <a:off x="1252728" y="3429000"/>
            <a:ext cx="4251960" cy="640080"/>
          </a:xfrm>
          <a:prstGeom prst="rect">
            <a:avLst/>
          </a:prstGeom>
          <a:noFill/>
        </p:spPr>
        <p:txBody>
          <a:bodyPr wrap="square" anchor="t" lIns="0" rIns="0" tIns="0" bIns="0">
            <a:spAutoFit/>
          </a:bodyPr>
          <a:lstStyle/>
          <a:p>
            <a:r>
              <a:rPr sz="2800" b="0" i="0">
                <a:solidFill>
                  <a:srgbClr val="0B1420"/>
                </a:solidFill>
                <a:latin typeface="Instrument Serif"/>
              </a:rPr>
              <a:t>We run them every day</a:t>
            </a:r>
          </a:p>
        </p:txBody>
      </p:sp>
      <p:sp>
        <p:nvSpPr>
          <p:cNvPr id="10" name="TextBox 9"/>
          <p:cNvSpPr txBox="1"/>
          <p:nvPr/>
        </p:nvSpPr>
        <p:spPr>
          <a:xfrm>
            <a:off x="1252728" y="4206240"/>
            <a:ext cx="4251960" cy="1463040"/>
          </a:xfrm>
          <a:prstGeom prst="rect">
            <a:avLst/>
          </a:prstGeom>
          <a:noFill/>
        </p:spPr>
        <p:txBody>
          <a:bodyPr wrap="square" anchor="t" lIns="0" rIns="0" tIns="0" bIns="0">
            <a:spAutoFit/>
          </a:bodyPr>
          <a:lstStyle/>
          <a:p>
            <a:pPr>
              <a:lnSpc>
                <a:spcPct val="140000"/>
              </a:lnSpc>
            </a:pPr>
            <a:r>
              <a:rPr sz="1500" b="0" i="0">
                <a:solidFill>
                  <a:srgbClr val="4A5665"/>
                </a:solidFill>
                <a:latin typeface="IBM Plex Sans"/>
              </a:rPr>
              <a:t>Regional and hyper-local forecasts at your site, updated daily. Operability windows, go/no-go calls, custom thresholds.</a:t>
            </a:r>
          </a:p>
        </p:txBody>
      </p:sp>
      <p:sp>
        <p:nvSpPr>
          <p:cNvPr id="11" name="Rectangle 10"/>
          <p:cNvSpPr/>
          <p:nvPr/>
        </p:nvSpPr>
        <p:spPr>
          <a:xfrm>
            <a:off x="6373368" y="2651760"/>
            <a:ext cx="5074920" cy="3108960"/>
          </a:xfrm>
          <a:prstGeom prst="rect">
            <a:avLst/>
          </a:prstGeom>
          <a:solidFill>
            <a:srgbClr val="F1F3F6"/>
          </a:solidFill>
          <a:ln>
            <a:noFill/>
          </a:ln>
          <a:effectLst/>
        </p:spPr>
        <p:txBody>
          <a:bodyPr rtlCol="0" anchor="ctr"/>
          <a:lstStyle/>
          <a:p>
            <a:pPr algn="ctr"/>
          </a:p>
        </p:txBody>
      </p:sp>
      <p:sp>
        <p:nvSpPr>
          <p:cNvPr id="12" name="Rectangle 11"/>
          <p:cNvSpPr/>
          <p:nvPr/>
        </p:nvSpPr>
        <p:spPr>
          <a:xfrm>
            <a:off x="6373368" y="2651760"/>
            <a:ext cx="5074920" cy="38100"/>
          </a:xfrm>
          <a:prstGeom prst="rect">
            <a:avLst/>
          </a:prstGeom>
          <a:solidFill>
            <a:srgbClr val="FF6A2B"/>
          </a:solidFill>
          <a:ln>
            <a:noFill/>
          </a:ln>
          <a:effectLst/>
        </p:spPr>
        <p:txBody>
          <a:bodyPr rtlCol="0" anchor="ctr"/>
          <a:lstStyle/>
          <a:p>
            <a:pPr algn="ctr"/>
          </a:p>
        </p:txBody>
      </p:sp>
      <p:sp>
        <p:nvSpPr>
          <p:cNvPr id="13" name="TextBox 12"/>
          <p:cNvSpPr txBox="1"/>
          <p:nvPr/>
        </p:nvSpPr>
        <p:spPr>
          <a:xfrm>
            <a:off x="6784848" y="2971800"/>
            <a:ext cx="4251960" cy="365760"/>
          </a:xfrm>
          <a:prstGeom prst="rect">
            <a:avLst/>
          </a:prstGeom>
          <a:noFill/>
        </p:spPr>
        <p:txBody>
          <a:bodyPr wrap="square" anchor="t" lIns="0" rIns="0" tIns="0" bIns="0">
            <a:spAutoFit/>
          </a:bodyPr>
          <a:lstStyle/>
          <a:p>
            <a:r>
              <a:rPr sz="1100" b="0" i="0" spc="180">
                <a:solidFill>
                  <a:srgbClr val="FF6A2B"/>
                </a:solidFill>
                <a:latin typeface="IBM Plex Mono"/>
              </a:rPr>
              <a:t>ONE-OFF</a:t>
            </a:r>
          </a:p>
        </p:txBody>
      </p:sp>
      <p:sp>
        <p:nvSpPr>
          <p:cNvPr id="14" name="TextBox 13"/>
          <p:cNvSpPr txBox="1"/>
          <p:nvPr/>
        </p:nvSpPr>
        <p:spPr>
          <a:xfrm>
            <a:off x="6784848" y="3429000"/>
            <a:ext cx="4251960" cy="640080"/>
          </a:xfrm>
          <a:prstGeom prst="rect">
            <a:avLst/>
          </a:prstGeom>
          <a:noFill/>
        </p:spPr>
        <p:txBody>
          <a:bodyPr wrap="square" anchor="t" lIns="0" rIns="0" tIns="0" bIns="0">
            <a:spAutoFit/>
          </a:bodyPr>
          <a:lstStyle/>
          <a:p>
            <a:r>
              <a:rPr sz="2800" b="0" i="0">
                <a:solidFill>
                  <a:srgbClr val="0B1420"/>
                </a:solidFill>
                <a:latin typeface="Instrument Serif"/>
              </a:rPr>
              <a:t>We build ocean models</a:t>
            </a:r>
          </a:p>
        </p:txBody>
      </p:sp>
      <p:sp>
        <p:nvSpPr>
          <p:cNvPr id="15" name="TextBox 14"/>
          <p:cNvSpPr txBox="1"/>
          <p:nvPr/>
        </p:nvSpPr>
        <p:spPr>
          <a:xfrm>
            <a:off x="6784848" y="4206240"/>
            <a:ext cx="4251960" cy="1463040"/>
          </a:xfrm>
          <a:prstGeom prst="rect">
            <a:avLst/>
          </a:prstGeom>
          <a:noFill/>
        </p:spPr>
        <p:txBody>
          <a:bodyPr wrap="square" anchor="t" lIns="0" rIns="0" tIns="0" bIns="0">
            <a:spAutoFit/>
          </a:bodyPr>
          <a:lstStyle/>
          <a:p>
            <a:pPr>
              <a:lnSpc>
                <a:spcPct val="140000"/>
              </a:lnSpc>
            </a:pPr>
            <a:r>
              <a:rPr sz="1500" b="0" i="0">
                <a:solidFill>
                  <a:srgbClr val="4A5665"/>
                </a:solidFill>
                <a:latin typeface="IBM Plex Sans"/>
              </a:rPr>
              <a:t>Model development, hindcasts, dispersion and transport, design criteria. Each engagement scoped to a specific question.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41248" y="0"/>
            <a:ext cx="10515600" cy="6858000"/>
          </a:xfrm>
          <a:prstGeom prst="rect">
            <a:avLst/>
          </a:prstGeom>
          <a:noFill/>
        </p:spPr>
        <p:txBody>
          <a:bodyPr wrap="square" anchor="ctr" lIns="0" rIns="0" tIns="0" bIns="0">
            <a:spAutoFit/>
          </a:bodyPr>
          <a:lstStyle/>
          <a:p>
            <a:pPr algn="l">
              <a:lnSpc>
                <a:spcPct val="106000"/>
              </a:lnSpc>
            </a:pPr>
            <a:r>
              <a:rPr sz="4600" b="0" i="0">
                <a:solidFill>
                  <a:srgbClr val="0B1420"/>
                </a:solidFill>
                <a:latin typeface="Instrument Serif"/>
              </a:rPr>
              <a:t>The people who have to know
what the sea is doing </a:t>
            </a:r>
            <a:r>
              <a:rPr sz="4600" b="0" i="1">
                <a:solidFill>
                  <a:srgbClr val="FF6A2B"/>
                </a:solidFill>
                <a:latin typeface="Instrument Serif"/>
              </a:rPr>
              <a:t>shouldn't
be guessing</a:t>
            </a:r>
            <a:r>
              <a:rPr sz="4600" b="0" i="0">
                <a:solidFill>
                  <a:srgbClr val="0B1420"/>
                </a:solidFill>
                <a:latin typeface="Instrument Serif"/>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F1C"/>
          </a:solidFill>
          <a:ln>
            <a:noFill/>
          </a:ln>
          <a:effectLst/>
        </p:spPr>
        <p:txBody>
          <a:bodyPr rtlCol="0" anchor="ctr"/>
          <a:lstStyle/>
          <a:p>
            <a:pPr algn="ctr"/>
          </a:p>
        </p:txBody>
      </p:sp>
      <p:sp>
        <p:nvSpPr>
          <p:cNvPr id="3" name="Rectangle 2"/>
          <p:cNvSpPr/>
          <p:nvPr/>
        </p:nvSpPr>
        <p:spPr>
          <a:xfrm>
            <a:off x="841248" y="728980"/>
            <a:ext cx="384048" cy="15240"/>
          </a:xfrm>
          <a:prstGeom prst="rect">
            <a:avLst/>
          </a:prstGeom>
          <a:solidFill>
            <a:srgbClr val="4FC3D7"/>
          </a:solidFill>
          <a:ln>
            <a:noFill/>
          </a:ln>
          <a:effectLst/>
        </p:spPr>
        <p:txBody>
          <a:bodyPr rtlCol="0" anchor="ctr"/>
          <a:lstStyle/>
          <a:p>
            <a:pPr algn="ctr"/>
          </a:p>
        </p:txBody>
      </p:sp>
      <p:sp>
        <p:nvSpPr>
          <p:cNvPr id="4" name="TextBox 3"/>
          <p:cNvSpPr txBox="1"/>
          <p:nvPr/>
        </p:nvSpPr>
        <p:spPr>
          <a:xfrm>
            <a:off x="1371600" y="640080"/>
            <a:ext cx="5486400" cy="365760"/>
          </a:xfrm>
          <a:prstGeom prst="rect">
            <a:avLst/>
          </a:prstGeom>
          <a:noFill/>
        </p:spPr>
        <p:txBody>
          <a:bodyPr wrap="square" anchor="t" lIns="0" rIns="0" tIns="0" bIns="0">
            <a:spAutoFit/>
          </a:bodyPr>
          <a:lstStyle/>
          <a:p>
            <a:r>
              <a:rPr sz="1200" b="0" i="0" spc="180">
                <a:solidFill>
                  <a:srgbClr val="4FC3D7"/>
                </a:solidFill>
                <a:latin typeface="IBM Plex Mono"/>
              </a:rPr>
              <a:t>LIVE FORECAST</a:t>
            </a:r>
          </a:p>
        </p:txBody>
      </p:sp>
      <p:sp>
        <p:nvSpPr>
          <p:cNvPr id="5" name="TextBox 4"/>
          <p:cNvSpPr txBox="1"/>
          <p:nvPr/>
        </p:nvSpPr>
        <p:spPr>
          <a:xfrm>
            <a:off x="841248" y="1024128"/>
            <a:ext cx="9144000" cy="640080"/>
          </a:xfrm>
          <a:prstGeom prst="rect">
            <a:avLst/>
          </a:prstGeom>
          <a:noFill/>
        </p:spPr>
        <p:txBody>
          <a:bodyPr wrap="square" anchor="t" lIns="0" rIns="0" tIns="0" bIns="0">
            <a:spAutoFit/>
          </a:bodyPr>
          <a:lstStyle/>
          <a:p>
            <a:r>
              <a:rPr sz="3400" b="0" i="0">
                <a:solidFill>
                  <a:srgbClr val="F4EFE3"/>
                </a:solidFill>
                <a:latin typeface="Instrument Serif"/>
              </a:rPr>
              <a:t>Your site, today.</a:t>
            </a:r>
          </a:p>
        </p:txBody>
      </p:sp>
      <p:sp>
        <p:nvSpPr>
          <p:cNvPr id="6" name="Rectangle 5"/>
          <p:cNvSpPr/>
          <p:nvPr/>
        </p:nvSpPr>
        <p:spPr>
          <a:xfrm>
            <a:off x="841248" y="1874519"/>
            <a:ext cx="10515600" cy="4297680"/>
          </a:xfrm>
          <a:prstGeom prst="rect">
            <a:avLst/>
          </a:prstGeom>
          <a:solidFill>
            <a:srgbClr val="13294A"/>
          </a:solidFill>
          <a:ln w="12700">
            <a:solidFill>
              <a:srgbClr val="4FC3D7"/>
            </a:solidFill>
          </a:ln>
          <a:effectLst/>
        </p:spPr>
        <p:txBody>
          <a:bodyPr rtlCol="0" anchor="ctr"/>
          <a:lstStyle/>
          <a:p>
            <a:pPr algn="ctr"/>
          </a:p>
        </p:txBody>
      </p:sp>
      <p:sp>
        <p:nvSpPr>
          <p:cNvPr id="7" name="TextBox 6"/>
          <p:cNvSpPr txBox="1"/>
          <p:nvPr/>
        </p:nvSpPr>
        <p:spPr>
          <a:xfrm>
            <a:off x="841248" y="3749039"/>
            <a:ext cx="10515600" cy="548640"/>
          </a:xfrm>
          <a:prstGeom prst="rect">
            <a:avLst/>
          </a:prstGeom>
          <a:noFill/>
        </p:spPr>
        <p:txBody>
          <a:bodyPr wrap="square" anchor="ctr" lIns="0" rIns="0" tIns="0" bIns="0">
            <a:spAutoFit/>
          </a:bodyPr>
          <a:lstStyle/>
          <a:p>
            <a:pPr algn="ctr"/>
            <a:r>
              <a:rPr sz="1200" b="0" i="0" spc="120">
                <a:solidFill>
                  <a:srgbClr val="A8E0EA"/>
                </a:solidFill>
                <a:latin typeface="IBM Plex Mono"/>
              </a:rPr>
              <a:t>[ REPLACE WITH DASHBOARD SCREENSHOT / RECORDING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C33"/>
          </a:solidFill>
          <a:ln>
            <a:noFill/>
          </a:ln>
          <a:effectLst/>
        </p:spPr>
        <p:txBody>
          <a:bodyPr rtlCol="0" anchor="ctr"/>
          <a:lstStyle/>
          <a:p>
            <a:pPr algn="ctr"/>
          </a:p>
        </p:txBody>
      </p:sp>
      <p:sp>
        <p:nvSpPr>
          <p:cNvPr id="3" name="Rectangle 2"/>
          <p:cNvSpPr/>
          <p:nvPr/>
        </p:nvSpPr>
        <p:spPr>
          <a:xfrm>
            <a:off x="841248" y="957580"/>
            <a:ext cx="384048" cy="15240"/>
          </a:xfrm>
          <a:prstGeom prst="rect">
            <a:avLst/>
          </a:prstGeom>
          <a:solidFill>
            <a:srgbClr val="4FC3D7"/>
          </a:solidFill>
          <a:ln>
            <a:noFill/>
          </a:ln>
          <a:effectLst/>
        </p:spPr>
        <p:txBody>
          <a:bodyPr rtlCol="0" anchor="ctr"/>
          <a:lstStyle/>
          <a:p>
            <a:pPr algn="ctr"/>
          </a:p>
        </p:txBody>
      </p:sp>
      <p:sp>
        <p:nvSpPr>
          <p:cNvPr id="4" name="TextBox 3"/>
          <p:cNvSpPr txBox="1"/>
          <p:nvPr/>
        </p:nvSpPr>
        <p:spPr>
          <a:xfrm>
            <a:off x="1371600" y="868680"/>
            <a:ext cx="5486400" cy="365760"/>
          </a:xfrm>
          <a:prstGeom prst="rect">
            <a:avLst/>
          </a:prstGeom>
          <a:noFill/>
        </p:spPr>
        <p:txBody>
          <a:bodyPr wrap="square" anchor="t" lIns="0" rIns="0" tIns="0" bIns="0">
            <a:spAutoFit/>
          </a:bodyPr>
          <a:lstStyle/>
          <a:p>
            <a:r>
              <a:rPr sz="1200" b="0" i="0" spc="180">
                <a:solidFill>
                  <a:srgbClr val="4FC3D7"/>
                </a:solidFill>
                <a:latin typeface="IBM Plex Mono"/>
              </a:rPr>
              <a:t>WHAT YOU'D RECEIVE</a:t>
            </a:r>
          </a:p>
        </p:txBody>
      </p:sp>
      <p:sp>
        <p:nvSpPr>
          <p:cNvPr id="5" name="TextBox 4"/>
          <p:cNvSpPr txBox="1"/>
          <p:nvPr/>
        </p:nvSpPr>
        <p:spPr>
          <a:xfrm>
            <a:off x="841248" y="1280160"/>
            <a:ext cx="9144000" cy="914400"/>
          </a:xfrm>
          <a:prstGeom prst="rect">
            <a:avLst/>
          </a:prstGeom>
          <a:noFill/>
        </p:spPr>
        <p:txBody>
          <a:bodyPr wrap="square" anchor="t" lIns="0" rIns="0" tIns="0" bIns="0">
            <a:spAutoFit/>
          </a:bodyPr>
          <a:lstStyle/>
          <a:p>
            <a:r>
              <a:rPr sz="4200" b="0" i="0">
                <a:solidFill>
                  <a:srgbClr val="F4EFE3"/>
                </a:solidFill>
                <a:latin typeface="Instrument Serif"/>
              </a:rPr>
              <a:t>Every single day.</a:t>
            </a:r>
          </a:p>
        </p:txBody>
      </p:sp>
      <p:sp>
        <p:nvSpPr>
          <p:cNvPr id="6" name="TextBox 5"/>
          <p:cNvSpPr txBox="1"/>
          <p:nvPr/>
        </p:nvSpPr>
        <p:spPr>
          <a:xfrm>
            <a:off x="841248" y="3017520"/>
            <a:ext cx="3291840" cy="1188720"/>
          </a:xfrm>
          <a:prstGeom prst="rect">
            <a:avLst/>
          </a:prstGeom>
          <a:noFill/>
        </p:spPr>
        <p:txBody>
          <a:bodyPr wrap="square" anchor="t" lIns="0" rIns="0" tIns="0" bIns="0">
            <a:spAutoFit/>
          </a:bodyPr>
          <a:lstStyle/>
          <a:p>
            <a:r>
              <a:rPr sz="6600" b="0" i="0">
                <a:solidFill>
                  <a:srgbClr val="FF6A2B"/>
                </a:solidFill>
                <a:latin typeface="Instrument Serif"/>
              </a:rPr>
              <a:t>Daily</a:t>
            </a:r>
          </a:p>
        </p:txBody>
      </p:sp>
      <p:sp>
        <p:nvSpPr>
          <p:cNvPr id="7" name="TextBox 6"/>
          <p:cNvSpPr txBox="1"/>
          <p:nvPr/>
        </p:nvSpPr>
        <p:spPr>
          <a:xfrm>
            <a:off x="841248" y="4297680"/>
            <a:ext cx="3291840" cy="548640"/>
          </a:xfrm>
          <a:prstGeom prst="rect">
            <a:avLst/>
          </a:prstGeom>
          <a:noFill/>
        </p:spPr>
        <p:txBody>
          <a:bodyPr wrap="square" anchor="t" lIns="0" rIns="0" tIns="0" bIns="0">
            <a:spAutoFit/>
          </a:bodyPr>
          <a:lstStyle/>
          <a:p>
            <a:r>
              <a:rPr sz="1200" b="0" i="0" spc="150">
                <a:solidFill>
                  <a:srgbClr val="A8E0EA"/>
                </a:solidFill>
                <a:latin typeface="IBM Plex Mono"/>
              </a:rPr>
              <a:t>FORECAST CYCLE</a:t>
            </a:r>
          </a:p>
        </p:txBody>
      </p:sp>
      <p:sp>
        <p:nvSpPr>
          <p:cNvPr id="8" name="TextBox 7"/>
          <p:cNvSpPr txBox="1"/>
          <p:nvPr/>
        </p:nvSpPr>
        <p:spPr>
          <a:xfrm>
            <a:off x="4315968" y="3017520"/>
            <a:ext cx="3291840" cy="1188720"/>
          </a:xfrm>
          <a:prstGeom prst="rect">
            <a:avLst/>
          </a:prstGeom>
          <a:noFill/>
        </p:spPr>
        <p:txBody>
          <a:bodyPr wrap="square" anchor="t" lIns="0" rIns="0" tIns="0" bIns="0">
            <a:spAutoFit/>
          </a:bodyPr>
          <a:lstStyle/>
          <a:p>
            <a:r>
              <a:rPr sz="6600" b="0" i="0">
                <a:solidFill>
                  <a:srgbClr val="FF6A2B"/>
                </a:solidFill>
                <a:latin typeface="Instrument Serif"/>
              </a:rPr>
              <a:t>72 h</a:t>
            </a:r>
          </a:p>
        </p:txBody>
      </p:sp>
      <p:sp>
        <p:nvSpPr>
          <p:cNvPr id="9" name="TextBox 8"/>
          <p:cNvSpPr txBox="1"/>
          <p:nvPr/>
        </p:nvSpPr>
        <p:spPr>
          <a:xfrm>
            <a:off x="4315968" y="4297680"/>
            <a:ext cx="3291840" cy="548640"/>
          </a:xfrm>
          <a:prstGeom prst="rect">
            <a:avLst/>
          </a:prstGeom>
          <a:noFill/>
        </p:spPr>
        <p:txBody>
          <a:bodyPr wrap="square" anchor="t" lIns="0" rIns="0" tIns="0" bIns="0">
            <a:spAutoFit/>
          </a:bodyPr>
          <a:lstStyle/>
          <a:p>
            <a:r>
              <a:rPr sz="1200" b="0" i="0" spc="150">
                <a:solidFill>
                  <a:srgbClr val="A8E0EA"/>
                </a:solidFill>
                <a:latin typeface="IBM Plex Mono"/>
              </a:rPr>
              <a:t>LEAD TIME</a:t>
            </a:r>
          </a:p>
        </p:txBody>
      </p:sp>
      <p:sp>
        <p:nvSpPr>
          <p:cNvPr id="10" name="TextBox 9"/>
          <p:cNvSpPr txBox="1"/>
          <p:nvPr/>
        </p:nvSpPr>
        <p:spPr>
          <a:xfrm>
            <a:off x="7790688" y="3017520"/>
            <a:ext cx="3291840" cy="1188720"/>
          </a:xfrm>
          <a:prstGeom prst="rect">
            <a:avLst/>
          </a:prstGeom>
          <a:noFill/>
        </p:spPr>
        <p:txBody>
          <a:bodyPr wrap="square" anchor="t" lIns="0" rIns="0" tIns="0" bIns="0">
            <a:spAutoFit/>
          </a:bodyPr>
          <a:lstStyle/>
          <a:p>
            <a:r>
              <a:rPr sz="6600" b="0" i="0">
                <a:solidFill>
                  <a:srgbClr val="FF6A2B"/>
                </a:solidFill>
                <a:latin typeface="Instrument Serif"/>
              </a:rPr>
              <a:t>Your</a:t>
            </a:r>
          </a:p>
        </p:txBody>
      </p:sp>
      <p:sp>
        <p:nvSpPr>
          <p:cNvPr id="11" name="TextBox 10"/>
          <p:cNvSpPr txBox="1"/>
          <p:nvPr/>
        </p:nvSpPr>
        <p:spPr>
          <a:xfrm>
            <a:off x="7790688" y="4297680"/>
            <a:ext cx="3291840" cy="548640"/>
          </a:xfrm>
          <a:prstGeom prst="rect">
            <a:avLst/>
          </a:prstGeom>
          <a:noFill/>
        </p:spPr>
        <p:txBody>
          <a:bodyPr wrap="square" anchor="t" lIns="0" rIns="0" tIns="0" bIns="0">
            <a:spAutoFit/>
          </a:bodyPr>
          <a:lstStyle/>
          <a:p>
            <a:r>
              <a:rPr sz="1200" b="0" i="0" spc="150">
                <a:solidFill>
                  <a:srgbClr val="A8E0EA"/>
                </a:solidFill>
                <a:latin typeface="IBM Plex Mono"/>
              </a:rPr>
              <a:t>THRESHOLDS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F1C"/>
          </a:solidFill>
          <a:ln>
            <a:noFill/>
          </a:ln>
          <a:effectLst/>
        </p:spPr>
        <p:txBody>
          <a:bodyPr rtlCol="0" anchor="ctr"/>
          <a:lstStyle/>
          <a:p>
            <a:pPr algn="ctr"/>
          </a:p>
        </p:txBody>
      </p:sp>
      <p:pic>
        <p:nvPicPr>
          <p:cNvPr id="3" name="Picture 2" descr="om-mark-dark.png"/>
          <p:cNvPicPr>
            <a:picLocks noChangeAspect="1"/>
          </p:cNvPicPr>
          <p:nvPr/>
        </p:nvPicPr>
        <p:blipFill>
          <a:blip r:embed="rId2"/>
          <a:stretch>
            <a:fillRect/>
          </a:stretch>
        </p:blipFill>
        <p:spPr>
          <a:xfrm>
            <a:off x="795528" y="612648"/>
            <a:ext cx="420624" cy="420624"/>
          </a:xfrm>
          <a:prstGeom prst="rect">
            <a:avLst/>
          </a:prstGeom>
        </p:spPr>
      </p:pic>
      <p:sp>
        <p:nvSpPr>
          <p:cNvPr id="4" name="TextBox 3"/>
          <p:cNvSpPr txBox="1"/>
          <p:nvPr/>
        </p:nvSpPr>
        <p:spPr>
          <a:xfrm>
            <a:off x="1261872" y="640080"/>
            <a:ext cx="5486400" cy="457200"/>
          </a:xfrm>
          <a:prstGeom prst="rect">
            <a:avLst/>
          </a:prstGeom>
          <a:noFill/>
        </p:spPr>
        <p:txBody>
          <a:bodyPr wrap="square" anchor="t" lIns="0" rIns="0" tIns="0" bIns="0">
            <a:spAutoFit/>
          </a:bodyPr>
          <a:lstStyle/>
          <a:p>
            <a:r>
              <a:rPr sz="2200" b="0" i="0">
                <a:solidFill>
                  <a:srgbClr val="F4EFE3"/>
                </a:solidFill>
                <a:latin typeface="Instrument Serif"/>
              </a:rPr>
              <a:t>O</a:t>
            </a:r>
            <a:r>
              <a:rPr sz="2200" b="0" i="0">
                <a:solidFill>
                  <a:srgbClr val="EDEEE4"/>
                </a:solidFill>
                <a:latin typeface="Instrument Serif"/>
              </a:rPr>
              <a:t>c</a:t>
            </a:r>
            <a:r>
              <a:rPr sz="2200" b="0" i="0">
                <a:solidFill>
                  <a:srgbClr val="E6ECE4"/>
                </a:solidFill>
                <a:latin typeface="Instrument Serif"/>
              </a:rPr>
              <a:t>e</a:t>
            </a:r>
            <a:r>
              <a:rPr sz="2200" b="0" i="0">
                <a:solidFill>
                  <a:srgbClr val="DFEBE5"/>
                </a:solidFill>
                <a:latin typeface="Instrument Serif"/>
              </a:rPr>
              <a:t>a</a:t>
            </a:r>
            <a:r>
              <a:rPr sz="2200" b="0" i="0">
                <a:solidFill>
                  <a:srgbClr val="D8EAE6"/>
                </a:solidFill>
                <a:latin typeface="Instrument Serif"/>
              </a:rPr>
              <a:t>n</a:t>
            </a:r>
            <a:r>
              <a:rPr sz="2200" b="0" i="0">
                <a:solidFill>
                  <a:srgbClr val="D1E8E6"/>
                </a:solidFill>
                <a:latin typeface="Instrument Serif"/>
              </a:rPr>
              <a:t> </a:t>
            </a:r>
            <a:r>
              <a:rPr sz="2200" b="0" i="0">
                <a:solidFill>
                  <a:srgbClr val="CBE7E7"/>
                </a:solidFill>
                <a:latin typeface="Instrument Serif"/>
              </a:rPr>
              <a:t>M</a:t>
            </a:r>
            <a:r>
              <a:rPr sz="2200" b="0" i="0">
                <a:solidFill>
                  <a:srgbClr val="C4E5E7"/>
                </a:solidFill>
                <a:latin typeface="Instrument Serif"/>
              </a:rPr>
              <a:t>o</a:t>
            </a:r>
            <a:r>
              <a:rPr sz="2200" b="0" i="0">
                <a:solidFill>
                  <a:srgbClr val="BDE4E8"/>
                </a:solidFill>
                <a:latin typeface="Instrument Serif"/>
              </a:rPr>
              <a:t>t</a:t>
            </a:r>
            <a:r>
              <a:rPr sz="2200" b="0" i="0">
                <a:solidFill>
                  <a:srgbClr val="B6E3E9"/>
                </a:solidFill>
                <a:latin typeface="Instrument Serif"/>
              </a:rPr>
              <a:t>i</a:t>
            </a:r>
            <a:r>
              <a:rPr sz="2200" b="0" i="0">
                <a:solidFill>
                  <a:srgbClr val="AFE1E9"/>
                </a:solidFill>
                <a:latin typeface="Instrument Serif"/>
              </a:rPr>
              <a:t>o</a:t>
            </a:r>
            <a:r>
              <a:rPr sz="2200" b="0" i="0">
                <a:solidFill>
                  <a:srgbClr val="A8E0EA"/>
                </a:solidFill>
                <a:latin typeface="Instrument Serif"/>
              </a:rPr>
              <a:t>n</a:t>
            </a:r>
            <a:r>
              <a:rPr sz="2200" b="0" i="0">
                <a:solidFill>
                  <a:srgbClr val="A8E0EA"/>
                </a:solidFill>
                <a:latin typeface="Instrument Serif"/>
              </a:rPr>
              <a:t> </a:t>
            </a:r>
            <a:r>
              <a:rPr sz="1000" b="0" i="0" spc="220">
                <a:solidFill>
                  <a:srgbClr val="A8E0EA"/>
                </a:solidFill>
                <a:latin typeface="IBM Plex Mono"/>
              </a:rPr>
              <a:t>ANALYTICS</a:t>
            </a:r>
          </a:p>
        </p:txBody>
      </p:sp>
      <p:sp>
        <p:nvSpPr>
          <p:cNvPr id="5" name="Rectangle 4"/>
          <p:cNvSpPr/>
          <p:nvPr/>
        </p:nvSpPr>
        <p:spPr>
          <a:xfrm>
            <a:off x="841248" y="2286000"/>
            <a:ext cx="1463040" cy="25400"/>
          </a:xfrm>
          <a:prstGeom prst="rect">
            <a:avLst/>
          </a:prstGeom>
          <a:solidFill>
            <a:srgbClr val="FF6A2B"/>
          </a:solidFill>
          <a:ln>
            <a:noFill/>
          </a:ln>
          <a:effectLst/>
        </p:spPr>
        <p:txBody>
          <a:bodyPr rtlCol="0" anchor="ctr"/>
          <a:lstStyle/>
          <a:p>
            <a:pPr algn="ctr"/>
          </a:p>
        </p:txBody>
      </p:sp>
      <p:sp>
        <p:nvSpPr>
          <p:cNvPr id="6" name="TextBox 5"/>
          <p:cNvSpPr txBox="1"/>
          <p:nvPr/>
        </p:nvSpPr>
        <p:spPr>
          <a:xfrm>
            <a:off x="841248" y="2560320"/>
            <a:ext cx="10058400" cy="1463040"/>
          </a:xfrm>
          <a:prstGeom prst="rect">
            <a:avLst/>
          </a:prstGeom>
          <a:noFill/>
        </p:spPr>
        <p:txBody>
          <a:bodyPr wrap="square" anchor="t" lIns="0" rIns="0" tIns="0" bIns="0">
            <a:spAutoFit/>
          </a:bodyPr>
          <a:lstStyle/>
          <a:p>
            <a:pPr>
              <a:lnSpc>
                <a:spcPct val="103000"/>
              </a:lnSpc>
            </a:pPr>
            <a:r>
              <a:rPr sz="5600" b="0" i="0">
                <a:solidFill>
                  <a:srgbClr val="F4EFE3"/>
                </a:solidFill>
                <a:latin typeface="Instrument Serif"/>
              </a:rPr>
              <a:t>Tell us what you're
</a:t>
            </a:r>
            <a:r>
              <a:rPr sz="5600" b="0" i="1">
                <a:solidFill>
                  <a:srgbClr val="FF6A2B"/>
                </a:solidFill>
                <a:latin typeface="Instrument Serif"/>
              </a:rPr>
              <a:t>working on</a:t>
            </a:r>
            <a:r>
              <a:rPr sz="5600" b="0" i="0">
                <a:solidFill>
                  <a:srgbClr val="F4EFE3"/>
                </a:solidFill>
                <a:latin typeface="Instrument Serif"/>
              </a:rPr>
              <a:t>.</a:t>
            </a:r>
          </a:p>
        </p:txBody>
      </p:sp>
      <p:sp>
        <p:nvSpPr>
          <p:cNvPr id="7" name="TextBox 6"/>
          <p:cNvSpPr txBox="1"/>
          <p:nvPr/>
        </p:nvSpPr>
        <p:spPr>
          <a:xfrm>
            <a:off x="841248" y="4937760"/>
            <a:ext cx="9144000" cy="1097280"/>
          </a:xfrm>
          <a:prstGeom prst="rect">
            <a:avLst/>
          </a:prstGeom>
          <a:noFill/>
        </p:spPr>
        <p:txBody>
          <a:bodyPr wrap="square" anchor="t" lIns="0" rIns="0" tIns="0" bIns="0">
            <a:spAutoFit/>
          </a:bodyPr>
          <a:lstStyle/>
          <a:p>
            <a:r>
              <a:rPr sz="1800" b="1" i="0">
                <a:solidFill>
                  <a:srgbClr val="F4EFE3"/>
                </a:solidFill>
                <a:latin typeface="IBM Plex Sans"/>
              </a:rPr>
              <a:t>Giles Fearon</a:t>
            </a:r>
          </a:p>
          <a:p>
            <a:pPr>
              <a:spcBef>
                <a:spcPts val="400"/>
              </a:spcBef>
            </a:pPr>
            <a:r>
              <a:rPr sz="1300" b="0" i="0">
                <a:solidFill>
                  <a:srgbClr val="A8E0EA"/>
                </a:solidFill>
                <a:latin typeface="IBM Plex Mono"/>
              </a:rPr>
              <a:t>giles@oceanmotionanalytics.com</a:t>
            </a:r>
          </a:p>
          <a:p>
            <a:pPr>
              <a:spcBef>
                <a:spcPts val="200"/>
              </a:spcBef>
            </a:pPr>
            <a:r>
              <a:rPr sz="1300" b="0" i="0">
                <a:solidFill>
                  <a:srgbClr val="8A94A2"/>
                </a:solidFill>
                <a:latin typeface="IBM Plex Mono"/>
              </a:rPr>
              <a:t>oceanmotionanalytics.com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nstrument Serif"/>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