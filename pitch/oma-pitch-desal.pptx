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embeddedFontLst>
    <p:embeddedFont>
      <p:font typeface="Instrument Serif" charset="0"/>
      <p:regular r:id="rId31"/>
      <p:italic r:id="rId32"/>
    </p:embeddedFont>
    <p:embeddedFont>
      <p:font typeface="IBM Plex Sans" charset="0"/>
      <p:regular r:id="rId33"/>
      <p:bold r:id="rId34"/>
      <p:italic r:id="rId35"/>
      <p:boldItalic r:id="rId36"/>
    </p:embeddedFont>
    <p:embeddedFont>
      <p:font typeface="IBM Plex Mono" charset="0"/>
      <p:regular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gif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ro-streaml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1248" y="2194560"/>
            <a:ext cx="1463040" cy="2540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om-mark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612648"/>
            <a:ext cx="420624" cy="420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61872" y="6400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F4EFE3"/>
                </a:solidFill>
                <a:latin typeface="Instrument Serif"/>
              </a:rPr>
              <a:t>O</a:t>
            </a:r>
            <a:r>
              <a:rPr sz="2200" b="0" i="0">
                <a:solidFill>
                  <a:srgbClr val="EDEEE4"/>
                </a:solidFill>
                <a:latin typeface="Instrument Serif"/>
              </a:rPr>
              <a:t>c</a:t>
            </a:r>
            <a:r>
              <a:rPr sz="2200" b="0" i="0">
                <a:solidFill>
                  <a:srgbClr val="E6ECE4"/>
                </a:solidFill>
                <a:latin typeface="Instrument Serif"/>
              </a:rPr>
              <a:t>e</a:t>
            </a:r>
            <a:r>
              <a:rPr sz="2200" b="0" i="0">
                <a:solidFill>
                  <a:srgbClr val="DFEBE5"/>
                </a:solidFill>
                <a:latin typeface="Instrument Serif"/>
              </a:rPr>
              <a:t>a</a:t>
            </a:r>
            <a:r>
              <a:rPr sz="2200" b="0" i="0">
                <a:solidFill>
                  <a:srgbClr val="D8EAE6"/>
                </a:solidFill>
                <a:latin typeface="Instrument Serif"/>
              </a:rPr>
              <a:t>n</a:t>
            </a:r>
            <a:r>
              <a:rPr sz="2200" b="0" i="0">
                <a:solidFill>
                  <a:srgbClr val="D1E8E6"/>
                </a:solidFill>
                <a:latin typeface="Instrument Serif"/>
              </a:rPr>
              <a:t> </a:t>
            </a:r>
            <a:r>
              <a:rPr sz="2200" b="0" i="0">
                <a:solidFill>
                  <a:srgbClr val="CBE7E7"/>
                </a:solidFill>
                <a:latin typeface="Instrument Serif"/>
              </a:rPr>
              <a:t>M</a:t>
            </a:r>
            <a:r>
              <a:rPr sz="2200" b="0" i="0">
                <a:solidFill>
                  <a:srgbClr val="C4E5E7"/>
                </a:solidFill>
                <a:latin typeface="Instrument Serif"/>
              </a:rPr>
              <a:t>o</a:t>
            </a:r>
            <a:r>
              <a:rPr sz="2200" b="0" i="0">
                <a:solidFill>
                  <a:srgbClr val="BDE4E8"/>
                </a:solidFill>
                <a:latin typeface="Instrument Serif"/>
              </a:rPr>
              <a:t>t</a:t>
            </a:r>
            <a:r>
              <a:rPr sz="2200" b="0" i="0">
                <a:solidFill>
                  <a:srgbClr val="B6E3E9"/>
                </a:solidFill>
                <a:latin typeface="Instrument Serif"/>
              </a:rPr>
              <a:t>i</a:t>
            </a:r>
            <a:r>
              <a:rPr sz="2200" b="0" i="0">
                <a:solidFill>
                  <a:srgbClr val="AFE1E9"/>
                </a:solidFill>
                <a:latin typeface="Instrument Serif"/>
              </a:rPr>
              <a:t>o</a:t>
            </a:r>
            <a:r>
              <a:rPr sz="2200" b="0" i="0">
                <a:solidFill>
                  <a:srgbClr val="A8E0EA"/>
                </a:solidFill>
                <a:latin typeface="Instrument Serif"/>
              </a:rPr>
              <a:t>n</a:t>
            </a:r>
            <a:r>
              <a:rPr sz="2200" b="0" i="0">
                <a:solidFill>
                  <a:srgbClr val="A8E0EA"/>
                </a:solidFill>
                <a:latin typeface="Instrument Serif"/>
              </a:rPr>
              <a:t> </a:t>
            </a:r>
            <a:r>
              <a:rPr sz="1000" b="0" i="0" spc="220">
                <a:solidFill>
                  <a:srgbClr val="A8E0EA"/>
                </a:solidFill>
                <a:latin typeface="IBM Plex Mono"/>
              </a:rPr>
              <a:t>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46888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5800" b="0" i="0">
                <a:solidFill>
                  <a:srgbClr val="F4EFE3"/>
                </a:solidFill>
                <a:latin typeface="Instrument Serif"/>
              </a:rPr>
              <a:t>The water your plant</a:t>
            </a:r>
          </a:p>
          <a:p>
            <a:pPr>
              <a:lnSpc>
                <a:spcPct val="102000"/>
              </a:lnSpc>
            </a:pPr>
            <a:r>
              <a:rPr sz="5800" b="0" i="0">
                <a:solidFill>
                  <a:srgbClr val="F4EFE3"/>
                </a:solidFill>
                <a:latin typeface="Instrument Serif"/>
              </a:rPr>
              <a:t>drinks, </a:t>
            </a:r>
            <a:r>
              <a:rPr sz="5800" b="0" i="1">
                <a:solidFill>
                  <a:srgbClr val="FF6A2B"/>
                </a:solidFill>
                <a:latin typeface="Instrument Serif"/>
              </a:rPr>
              <a:t>forecast</a:t>
            </a:r>
            <a:r>
              <a:rPr sz="5800" b="0" i="0">
                <a:solidFill>
                  <a:srgbClr val="F4EFE3"/>
                </a:solidFill>
                <a:latin typeface="Instrument Serif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394960"/>
            <a:ext cx="8229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 spc="200">
                <a:solidFill>
                  <a:srgbClr val="A8E0EA"/>
                </a:solidFill>
                <a:latin typeface="IBM Plex Mono"/>
              </a:rPr>
              <a:t>PITCH DECK  ·  DESALINATION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8A94A2"/>
                </a:solidFill>
                <a:latin typeface="IBM Plex Sans"/>
              </a:rPr>
              <a:t>Prepared for [Client]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80160"/>
            <a:ext cx="8229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4400" b="0" i="0">
                <a:solidFill>
                  <a:srgbClr val="0B1420"/>
                </a:solidFill>
                <a:latin typeface="Instrument Serif"/>
              </a:rPr>
              <a:t>What we'll cover.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651760"/>
            <a:ext cx="91440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1500" b="0" i="0" spc="80">
                <a:solidFill>
                  <a:srgbClr val="FF6A2B"/>
                </a:solidFill>
                <a:latin typeface="IBM Plex Mono"/>
              </a:rPr>
              <a:t>01</a:t>
            </a:r>
            <a:r>
              <a:rPr sz="2200" b="0" i="0">
                <a:solidFill>
                  <a:srgbClr val="0B1420"/>
                </a:solidFill>
                <a:latin typeface="IBM Plex Sans"/>
              </a:rPr>
              <a:t>    What your intake actually sees</a:t>
            </a:r>
          </a:p>
          <a:p>
            <a:pPr>
              <a:spcAft>
                <a:spcPts val="1400"/>
              </a:spcAft>
            </a:pPr>
            <a:r>
              <a:rPr sz="1500" b="0" i="0" spc="80">
                <a:solidFill>
                  <a:srgbClr val="FF6A2B"/>
                </a:solidFill>
                <a:latin typeface="IBM Plex Mono"/>
              </a:rPr>
              <a:t>02</a:t>
            </a:r>
            <a:r>
              <a:rPr sz="2200" b="0" i="0">
                <a:solidFill>
                  <a:srgbClr val="0B1420"/>
                </a:solidFill>
                <a:latin typeface="IBM Plex Sans"/>
              </a:rPr>
              <a:t>    How we model it, end to end</a:t>
            </a:r>
          </a:p>
          <a:p>
            <a:pPr>
              <a:spcAft>
                <a:spcPts val="1400"/>
              </a:spcAft>
            </a:pPr>
            <a:r>
              <a:rPr sz="1500" b="0" i="0" spc="80">
                <a:solidFill>
                  <a:srgbClr val="FF6A2B"/>
                </a:solidFill>
                <a:latin typeface="IBM Plex Mono"/>
              </a:rPr>
              <a:t>03</a:t>
            </a:r>
            <a:r>
              <a:rPr sz="2200" b="0" i="0">
                <a:solidFill>
                  <a:srgbClr val="0B1420"/>
                </a:solidFill>
                <a:latin typeface="IBM Plex Sans"/>
              </a:rPr>
              <a:t>    Characterising your site</a:t>
            </a:r>
          </a:p>
          <a:p>
            <a:pPr>
              <a:spcAft>
                <a:spcPts val="1400"/>
              </a:spcAft>
            </a:pPr>
            <a:r>
              <a:rPr sz="1500" b="0" i="0" spc="80">
                <a:solidFill>
                  <a:srgbClr val="FF6A2B"/>
                </a:solidFill>
                <a:latin typeface="IBM Plex Mono"/>
              </a:rPr>
              <a:t>04</a:t>
            </a:r>
            <a:r>
              <a:rPr sz="2200" b="0" i="0">
                <a:solidFill>
                  <a:srgbClr val="0B1420"/>
                </a:solidFill>
                <a:latin typeface="IBM Plex Sans"/>
              </a:rPr>
              <a:t>    A forecast that runs every day</a:t>
            </a:r>
          </a:p>
          <a:p>
            <a:pPr>
              <a:spcAft>
                <a:spcPts val="1400"/>
              </a:spcAft>
            </a:pPr>
            <a:r>
              <a:rPr sz="1500" b="0" i="0" spc="80">
                <a:solidFill>
                  <a:srgbClr val="FF6A2B"/>
                </a:solidFill>
                <a:latin typeface="IBM Plex Mono"/>
              </a:rPr>
              <a:t>05</a:t>
            </a:r>
            <a:r>
              <a:rPr sz="2200" b="0" i="0">
                <a:solidFill>
                  <a:srgbClr val="0B1420"/>
                </a:solidFill>
                <a:latin typeface="IBM Plex Sans"/>
              </a:rPr>
              <a:t>    The next thirty years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C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2832100"/>
            <a:ext cx="384048" cy="15240"/>
          </a:xfrm>
          <a:prstGeom prst="rect">
            <a:avLst/>
          </a:prstGeom>
          <a:solidFill>
            <a:srgbClr val="4FC3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FC3D7"/>
                </a:solidFill>
                <a:latin typeface="IBM Plex Mono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5800" b="0" i="0">
                <a:solidFill>
                  <a:srgbClr val="F4EFE3"/>
                </a:solidFill>
                <a:latin typeface="Instrument Serif"/>
              </a:rPr>
              <a:t>What your intake
</a:t>
            </a:r>
            <a:r>
              <a:rPr sz="5800" b="0" i="1">
                <a:solidFill>
                  <a:srgbClr val="FF6A2B"/>
                </a:solidFill>
                <a:latin typeface="Instrument Serif"/>
              </a:rPr>
              <a:t>actually sees.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SECTION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Three variables. One of them
arrives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without warning.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724912"/>
            <a:ext cx="3291840" cy="314553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724912"/>
            <a:ext cx="3291840" cy="3810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99923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80">
                <a:solidFill>
                  <a:srgbClr val="FF6A2B"/>
                </a:solidFill>
                <a:latin typeface="IBM Plex Mono"/>
              </a:rPr>
              <a:t>THE WEDGE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383280"/>
            <a:ext cx="26700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B1420"/>
                </a:solidFill>
                <a:latin typeface="Instrument Serif"/>
              </a:rPr>
              <a:t>Turbidity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078224"/>
            <a:ext cx="2670048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250" b="0" i="0">
                <a:solidFill>
                  <a:srgbClr val="4A5665"/>
                </a:solidFill>
                <a:latin typeface="IBM Plex Sans"/>
              </a:rPr>
              <a:t>Shamal-driven, episodic, and it arrives over hours. It is also what actually hurts: pretreatment overload, SDI spikes, coagulant dosing, shortened filter runs, production cuts. Nobody forecasts it for you.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3128" y="2724912"/>
            <a:ext cx="3291840" cy="314553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2724912"/>
            <a:ext cx="3291840" cy="3810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99923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80">
                <a:solidFill>
                  <a:srgbClr val="FF6A2B"/>
                </a:solidFill>
                <a:latin typeface="IBM Plex Mono"/>
              </a:rPr>
              <a:t>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383280"/>
            <a:ext cx="26700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B1420"/>
                </a:solidFill>
                <a:latin typeface="Instrument Serif"/>
              </a:rPr>
              <a:t>Temperature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4078224"/>
            <a:ext cx="2670048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250" b="0" i="0">
                <a:solidFill>
                  <a:srgbClr val="4A5665"/>
                </a:solidFill>
                <a:latin typeface="IBM Plex Sans"/>
              </a:rPr>
              <a:t>Real SWRO economics — flux, specific energy, salt and boron passage. But you already measure it, and tomorrow looks much like today. The value in temperature is seasonal, which makes it a study rather than a daily number.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724912"/>
            <a:ext cx="3291840" cy="314553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2724912"/>
            <a:ext cx="3291840" cy="3810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99923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80">
                <a:solidFill>
                  <a:srgbClr val="FF6A2B"/>
                </a:solidFill>
                <a:latin typeface="IBM Plex Mono"/>
              </a:rPr>
              <a:t>CONTEXT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383280"/>
            <a:ext cx="26700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B1420"/>
                </a:solidFill>
                <a:latin typeface="Instrument Serif"/>
              </a:rPr>
              <a:t>Salinity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4078224"/>
            <a:ext cx="2670048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250" b="0" i="0">
                <a:solidFill>
                  <a:srgbClr val="4A5665"/>
                </a:solidFill>
                <a:latin typeface="IBM Plex Sans"/>
              </a:rPr>
              <a:t>The slowest of the three, and measured. The salinity question with teeth is not tomorrow's value — it is recirculation: whether your own outfall, or the plant next door's, reaches your intake.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144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we keep temperature and salinity on the dashboard because they are nearly free once the model runs — but turbidity is the reason to have 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C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FC3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FC3D7"/>
                </a:solidFill>
                <a:latin typeface="IBM Plex Mono"/>
              </a:rPr>
              <a:t>ONE SHAMAL, ONE INTAKE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8016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3600" b="0" i="0">
                <a:solidFill>
                  <a:srgbClr val="F4EFE3"/>
                </a:solidFill>
                <a:latin typeface="Instrument Serif"/>
              </a:rPr>
              <a:t>21 January 2022. The wind turned
at midday. By midnight the water
was </a:t>
            </a:r>
            <a:r>
              <a:rPr sz="3600" b="0" i="1">
                <a:solidFill>
                  <a:srgbClr val="FF6A2B"/>
                </a:solidFill>
                <a:latin typeface="Instrument Serif"/>
              </a:rPr>
              <a:t>brown.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310128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0" i="0">
                <a:solidFill>
                  <a:srgbClr val="FF6A2B"/>
                </a:solidFill>
                <a:latin typeface="Instrument Serif"/>
              </a:rPr>
              <a:t>3 →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590288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 b="0" i="0" spc="120">
                <a:solidFill>
                  <a:srgbClr val="A8E0EA"/>
                </a:solidFill>
                <a:latin typeface="IBM Plex Mono"/>
              </a:rPr>
              <a:t>NTU NEAR THE BED,
AGAINST A 3 NTU BACKGROUND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3310128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0" i="0">
                <a:solidFill>
                  <a:srgbClr val="FF6A2B"/>
                </a:solidFill>
                <a:latin typeface="Instrument Serif"/>
              </a:rPr>
              <a:t>12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4590288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 b="0" i="0" spc="120">
                <a:solidFill>
                  <a:srgbClr val="A8E0EA"/>
                </a:solidFill>
                <a:latin typeface="IBM Plex Mono"/>
              </a:rPr>
              <a:t>FROM THE WIND PEAK
TO THE PLUME AT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3310128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0" i="0">
                <a:solidFill>
                  <a:srgbClr val="FF6A2B"/>
                </a:solidFill>
                <a:latin typeface="Instrument Serif"/>
              </a:rPr>
              <a:t>4 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4590288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 b="0" i="0" spc="120">
                <a:solidFill>
                  <a:srgbClr val="A8E0EA"/>
                </a:solidFill>
                <a:latin typeface="IBM Plex Mono"/>
              </a:rPr>
              <a:t>LONGER ABOVE 10 NTU NEAR THE BED
THAN AT THE SURFACE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27278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A8E0EA"/>
                </a:solidFill>
                <a:latin typeface="IBM Plex Sans"/>
              </a:rPr>
              <a:t>modelled at 24.37 N  ·  54.05 E  ·  6 m — and the satellite that would have told you about it sees only the surface, the smaller half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2832100"/>
            <a:ext cx="384048" cy="15240"/>
          </a:xfrm>
          <a:prstGeom prst="rect">
            <a:avLst/>
          </a:prstGeom>
          <a:solidFill>
            <a:srgbClr val="4FC3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FC3D7"/>
                </a:solidFill>
                <a:latin typeface="IBM Plex Mono"/>
              </a:rPr>
              <a:t>SECTION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5800" b="0" i="0">
                <a:solidFill>
                  <a:srgbClr val="F4EFE3"/>
                </a:solidFill>
                <a:latin typeface="Instrument Serif"/>
              </a:rPr>
              <a:t>How we </a:t>
            </a:r>
            <a:r>
              <a:rPr sz="5800" b="0" i="1">
                <a:solidFill>
                  <a:srgbClr val="FF6A2B"/>
                </a:solidFill>
                <a:latin typeface="Instrument Serif"/>
              </a:rPr>
              <a:t>model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658368"/>
            <a:ext cx="47548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Five models,
one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chain.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2484628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39572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889504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0B1420"/>
                </a:solidFill>
                <a:latin typeface="IBM Plex Sans"/>
              </a:rPr>
              <a:t>ERA5  /  GFS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104388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8A94A2"/>
                </a:solidFill>
                <a:latin typeface="IBM Plex Mono"/>
              </a:rPr>
              <a:t>0.25 deg  ·  hourly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456432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0B1420"/>
                </a:solidFill>
                <a:latin typeface="IBM Plex Sans"/>
              </a:rPr>
              <a:t>GLORYS  /  MERCATOR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6713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8A94A2"/>
                </a:solidFill>
                <a:latin typeface="IBM Plex Mono"/>
              </a:rPr>
              <a:t>1/12 deg  ·  daily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023360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0B1420"/>
                </a:solidFill>
                <a:latin typeface="IBM Plex Sans"/>
              </a:rPr>
              <a:t>TPXO10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238244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8A94A2"/>
                </a:solidFill>
                <a:latin typeface="IBM Plex Mono"/>
              </a:rPr>
              <a:t>10 tidal constituents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90288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0B1420"/>
                </a:solidFill>
                <a:latin typeface="IBM Plex Sans"/>
              </a:rPr>
              <a:t>CMEMS spectra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05172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8A94A2"/>
                </a:solidFill>
                <a:latin typeface="IBM Plex Mono"/>
              </a:rPr>
              <a:t>25 points at Hormuz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5157216"/>
            <a:ext cx="3017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0B1420"/>
                </a:solidFill>
                <a:latin typeface="IBM Plex Sans"/>
              </a:rPr>
              <a:t>grid 291 x 131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372100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>
                <a:solidFill>
                  <a:srgbClr val="8A94A2"/>
                </a:solidFill>
                <a:latin typeface="IBM Plex Mono"/>
              </a:rPr>
              <a:t>3.5 km  ·  15 levels  ·  shared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2615184"/>
            <a:ext cx="187451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chain-5-circ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080" y="2665984"/>
            <a:ext cx="1772919" cy="128828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26280" y="2340864"/>
            <a:ext cx="29717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0B1420"/>
                </a:solidFill>
                <a:latin typeface="IBM Plex Sans"/>
              </a:rPr>
              <a:t>CROCO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26280" y="4700016"/>
            <a:ext cx="187451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0" name="Picture 19" descr="chain-6-wa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080" y="4750816"/>
            <a:ext cx="1772919" cy="12882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526280" y="4425696"/>
            <a:ext cx="29717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0B1420"/>
                </a:solidFill>
                <a:latin typeface="IBM Plex Sans"/>
              </a:rPr>
              <a:t>WAVEWATCH III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3657600"/>
            <a:ext cx="1874519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3" name="Picture 22" descr="chain-7-turbid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3320" y="3708400"/>
            <a:ext cx="1772919" cy="12882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732520" y="3383280"/>
            <a:ext cx="297179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0" i="0">
                <a:solidFill>
                  <a:srgbClr val="0B1420"/>
                </a:solidFill>
                <a:latin typeface="IBM Plex Sans"/>
              </a:rPr>
              <a:t>sediment model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995928" y="2999232"/>
            <a:ext cx="475488" cy="54864"/>
          </a:xfrm>
          <a:prstGeom prst="line">
            <a:avLst/>
          </a:prstGeom>
          <a:ln w="15875">
            <a:solidFill>
              <a:srgbClr val="8A9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995928" y="3054096"/>
            <a:ext cx="475488" cy="2084832"/>
          </a:xfrm>
          <a:prstGeom prst="line">
            <a:avLst/>
          </a:prstGeom>
          <a:ln w="15875">
            <a:solidFill>
              <a:srgbClr val="8A9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995928" y="3364992"/>
            <a:ext cx="475488" cy="201168"/>
          </a:xfrm>
          <a:prstGeom prst="line">
            <a:avLst/>
          </a:prstGeom>
          <a:ln w="15875">
            <a:solidFill>
              <a:srgbClr val="8A9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995928" y="3675887"/>
            <a:ext cx="475488" cy="457200"/>
          </a:xfrm>
          <a:prstGeom prst="line">
            <a:avLst/>
          </a:prstGeom>
          <a:ln w="15875">
            <a:solidFill>
              <a:srgbClr val="8A9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995928" y="4700016"/>
            <a:ext cx="475488" cy="731520"/>
          </a:xfrm>
          <a:prstGeom prst="line">
            <a:avLst/>
          </a:prstGeom>
          <a:ln w="15875">
            <a:solidFill>
              <a:srgbClr val="8A94A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463540" y="4059936"/>
            <a:ext cx="0" cy="347472"/>
          </a:xfrm>
          <a:prstGeom prst="line">
            <a:avLst/>
          </a:prstGeom>
          <a:ln w="22860">
            <a:solidFill>
              <a:srgbClr val="4A56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09844" y="4187952"/>
            <a:ext cx="3291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4A5665"/>
                </a:solidFill>
                <a:latin typeface="IBM Plex Mono"/>
              </a:rPr>
              <a:t>surface currents + water level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882127" y="2377440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82127" y="2706624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82127" y="3035808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882127" y="3364992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82127" y="3694176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82127" y="4023360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82127" y="4352544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882127" y="4681728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82127" y="5010912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882127" y="5340096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882127" y="5669280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882127" y="5998464"/>
            <a:ext cx="17780" cy="18288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10143" y="2212848"/>
            <a:ext cx="40233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8A94A2"/>
                </a:solidFill>
                <a:latin typeface="IBM Plex Mono"/>
              </a:rPr>
              <a:t>run offline, after both have finished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55663" y="3566160"/>
            <a:ext cx="2221993" cy="512064"/>
          </a:xfrm>
          <a:prstGeom prst="line">
            <a:avLst/>
          </a:prstGeom>
          <a:ln w="15875">
            <a:solidFill>
              <a:srgbClr val="4A56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6455663" y="4754880"/>
            <a:ext cx="2221993" cy="457200"/>
          </a:xfrm>
          <a:prstGeom prst="line">
            <a:avLst/>
          </a:prstGeom>
          <a:ln w="15875">
            <a:solidFill>
              <a:srgbClr val="4A566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601968" y="3511296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4A5665"/>
                </a:solidFill>
                <a:latin typeface="IBM Plex Mono"/>
              </a:rPr>
              <a:t>bottom currents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8" y="5029200"/>
            <a:ext cx="18288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0" i="0">
                <a:solidFill>
                  <a:srgbClr val="4A5665"/>
                </a:solidFill>
                <a:latin typeface="IBM Plex Mono"/>
              </a:rPr>
              <a:t>orbital velocity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" y="64190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every arrow is a file on disk — there is no step here you cannot ask to see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hain-2-atmosphe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307" y="969264"/>
            <a:ext cx="6010717" cy="504748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41248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ATMOSPHERE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1883664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83664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BOUNDARIES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GRID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8496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68496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CIRCULATION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10912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10912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WAVES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5332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5332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TURBIDITY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4367" y="36576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60">
                <a:solidFill>
                  <a:srgbClr val="4A5665"/>
                </a:solidFill>
                <a:latin typeface="IBM Plex Mono"/>
              </a:rPr>
              <a:t>21 Jan 2022  ·  08:00 UTC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1325880"/>
            <a:ext cx="4160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We start with weather
anyone can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audit.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7007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361188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ATMOSPHERIC FORCING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995928"/>
            <a:ext cx="4160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hindcast          forecast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WIND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ERA5              GFS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0.25 deg hourly   0.25 deg 3-hourly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/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OCEAN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GLORYS            MERCATOR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TIDE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TPXO10            TPXO10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WAVES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CMEMS spectra     CMEMS WAV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27278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public, global, and honestly coarse — the same four inputs drive the hindcast and the daily forecast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ATMOSPHERE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3664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83664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8496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8496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CIRCULATION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WAVES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TURBIDITY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4367" y="36576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60">
                <a:solidFill>
                  <a:srgbClr val="4A5665"/>
                </a:solidFill>
                <a:latin typeface="IBM Plex Mono"/>
              </a:rPr>
              <a:t>21 Jan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1051560"/>
            <a:ext cx="4206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The Gulf has
one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door.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287782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7889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OPEN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172968"/>
            <a:ext cx="41148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BOUNDARY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east only  ·  26 wet cells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DEPTH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27 to 1518 m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OCEAN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GLORYS 1/12 deg  ·  50 z-levels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TIDE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TPXO10, 10 constituents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WAVES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25 CMEMS spectra</a:t>
            </a:r>
          </a:p>
        </p:txBody>
      </p:sp>
      <p:pic>
        <p:nvPicPr>
          <p:cNvPr id="20" name="Picture 19" descr="chain-3a-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05840"/>
            <a:ext cx="3321139" cy="2788920"/>
          </a:xfrm>
          <a:prstGeom prst="rect">
            <a:avLst/>
          </a:prstGeom>
        </p:spPr>
      </p:pic>
      <p:pic>
        <p:nvPicPr>
          <p:cNvPr id="21" name="Picture 20" descr="chain-3b-oc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078992"/>
            <a:ext cx="3566160" cy="2047240"/>
          </a:xfrm>
          <a:prstGeom prst="rect">
            <a:avLst/>
          </a:prstGeom>
        </p:spPr>
      </p:pic>
      <p:pic>
        <p:nvPicPr>
          <p:cNvPr id="22" name="Picture 21" descr="chain-3c-t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3310128"/>
            <a:ext cx="3566160" cy="1320800"/>
          </a:xfrm>
          <a:prstGeom prst="rect">
            <a:avLst/>
          </a:prstGeom>
        </p:spPr>
      </p:pic>
      <p:pic>
        <p:nvPicPr>
          <p:cNvPr id="23" name="Picture 22" descr="chain-3d-wav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840480"/>
            <a:ext cx="2148840" cy="214884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41248" y="63093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everything else is coastline — which is what makes a Gulf hindcast a tractable problem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ATMOSPHERE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3664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83664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8496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8496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CIRCULATION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WAVES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TURBIDITY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932688"/>
            <a:ext cx="43891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We refine until the site
is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resolved.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09474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100584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MODEL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389888"/>
            <a:ext cx="5394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PARENT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291 x 131  ·  3.5 km  ·  15 levels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NEST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140 x 128  ·  1.2 km  ·  3x refinement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METHOD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AGRIF two-way nesting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further nests wherever a site needs one</a:t>
            </a:r>
          </a:p>
        </p:txBody>
      </p:sp>
      <p:pic>
        <p:nvPicPr>
          <p:cNvPr id="19" name="Picture 18" descr="chain-4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145536"/>
            <a:ext cx="10515600" cy="311086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57300" y="26700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0B1420"/>
                </a:solidFill>
                <a:latin typeface="IBM Plex Sans"/>
              </a:rPr>
              <a:t>the whole Gulf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7300" y="28895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A94A2"/>
                </a:solidFill>
                <a:latin typeface="IBM Plex Mono"/>
              </a:rPr>
              <a:t>3.5 km  ·  every 4th 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26700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0B1420"/>
                </a:solidFill>
                <a:latin typeface="IBM Plex Sans"/>
              </a:rPr>
              <a:t>the southern shelf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28895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A94A2"/>
                </a:solidFill>
                <a:latin typeface="IBM Plex Mono"/>
              </a:rPr>
              <a:t>3.5 km  ·  every cell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7596" y="26700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0" i="0">
                <a:solidFill>
                  <a:srgbClr val="0B1420"/>
                </a:solidFill>
                <a:latin typeface="IBM Plex Sans"/>
              </a:rPr>
              <a:t>a nested grid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97596" y="288950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8A94A2"/>
                </a:solidFill>
                <a:latin typeface="IBM Plex Mono"/>
              </a:rPr>
              <a:t>1.2 km  ·  every cell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4190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the nest outline is the grid's own edge, not a box — and the same machinery refines again wherever a client needs 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ATMOSPHERE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3664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83664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8496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8496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CIRCULATION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WAVES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TURBIDITY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96012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Then we solve
for the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water.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2704084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26151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CIRCULATION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2999232"/>
            <a:ext cx="3108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MODEL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CROCO v1.3.1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SOLVES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u, v, w, T, S, turbulence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LEVELS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15, terrain-following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MIXING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GLS + KPP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OUTPUT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hourly, every level</a:t>
            </a:r>
          </a:p>
        </p:txBody>
      </p:sp>
      <p:pic>
        <p:nvPicPr>
          <p:cNvPr id="19" name="Picture 18" descr="chain-5-circ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859536"/>
            <a:ext cx="3179582" cy="2670048"/>
          </a:xfrm>
          <a:prstGeom prst="rect">
            <a:avLst/>
          </a:prstGeom>
        </p:spPr>
      </p:pic>
      <p:pic>
        <p:nvPicPr>
          <p:cNvPr id="20" name="Picture 19" descr="chain-5-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932688"/>
            <a:ext cx="4846320" cy="3210687"/>
          </a:xfrm>
          <a:prstGeom prst="rect">
            <a:avLst/>
          </a:prstGeom>
        </p:spPr>
      </p:pic>
      <p:pic>
        <p:nvPicPr>
          <p:cNvPr id="21" name="Picture 20" descr="chain-5a-s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315968"/>
            <a:ext cx="10424160" cy="20848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1248" y="64556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solved on 15 layers, not one — and held to ten years of satellite SST, not just the week we are talking about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chain-6-w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08" y="896112"/>
            <a:ext cx="4845596" cy="4069080"/>
          </a:xfrm>
          <a:prstGeom prst="rect">
            <a:avLst/>
          </a:prstGeom>
        </p:spPr>
      </p:pic>
      <p:pic>
        <p:nvPicPr>
          <p:cNvPr id="4" name="Picture 3" descr="chain-6a-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1298448"/>
            <a:ext cx="3520440" cy="352044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ATMOSPHERE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83664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3664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BOUNDARIES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GRID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68496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68496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CIRCULATION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10912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WAVES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5332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TURBIDITY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24367" y="36576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60">
                <a:solidFill>
                  <a:srgbClr val="4A5665"/>
                </a:solidFill>
                <a:latin typeface="IBM Plex Mono"/>
              </a:rPr>
              <a:t>21 Jan 2022  ·  14:00 UTC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1325880"/>
            <a:ext cx="4160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Waves ride the currents
we just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solved.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37007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3611880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WAVE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3995928"/>
            <a:ext cx="416052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MODEL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WAVEWATCH III v6.07.1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GRID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291 x 131, the CROCO mesh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SPECTRUM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32 frequencies x 24 dir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FORCED BY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ERA5 wind + CROCO currents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25 CMEMS spectra at Hormuz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27278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one-way, CROCO into WW3, never back — and checked against 26 000 altimeter passes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ATMOSPHERE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3664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83664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8496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8496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CIRCULATION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WAVES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TURBIDITY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896112"/>
            <a:ext cx="45720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The seabed does nothing
until it does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everything.</a:t>
            </a:r>
          </a:p>
        </p:txBody>
      </p:sp>
      <p:pic>
        <p:nvPicPr>
          <p:cNvPr id="16" name="Picture 15" descr="chain-7b-pro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1993392"/>
            <a:ext cx="9692640" cy="440574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343228" y="246943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FC3D7"/>
                </a:solidFill>
                <a:latin typeface="IBM Plex Sans"/>
              </a:rPr>
              <a:t>waves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-80379" y="4319705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4FC3D7"/>
                </a:solidFill>
                <a:latin typeface="IBM Plex Sans"/>
              </a:rPr>
              <a:t>orbital motion</a:t>
            </a:r>
          </a:p>
          <a:p>
            <a:pPr algn="r"/>
            <a:r>
              <a:rPr sz="1050" b="1" i="0">
                <a:solidFill>
                  <a:srgbClr val="4FC3D7"/>
                </a:solidFill>
                <a:latin typeface="IBM Plex Sans"/>
              </a:rPr>
              <a:t>flattens onto the bed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67447" y="3767633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91C33"/>
                </a:solidFill>
                <a:latin typeface="IBM Plex Sans"/>
              </a:rPr>
              <a:t>current</a:t>
            </a:r>
          </a:p>
          <a:p>
            <a:pPr algn="l"/>
            <a:r>
              <a:rPr sz="1050" b="1" i="0">
                <a:solidFill>
                  <a:srgbClr val="091C33"/>
                </a:solidFill>
                <a:latin typeface="IBM Plex Sans"/>
              </a:rPr>
              <a:t>strongest at the surface,</a:t>
            </a:r>
          </a:p>
          <a:p>
            <a:pPr algn="l"/>
            <a:r>
              <a:rPr sz="1050" b="1" i="0">
                <a:solidFill>
                  <a:srgbClr val="091C33"/>
                </a:solidFill>
                <a:latin typeface="IBM Plex Sans"/>
              </a:rPr>
              <a:t>slowed by friction at the bed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43308" y="555471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6A2B"/>
                </a:solidFill>
                <a:latin typeface="IBM Plex Sans"/>
              </a:rPr>
              <a:t>wave-driven</a:t>
            </a:r>
          </a:p>
          <a:p>
            <a:pPr algn="r"/>
            <a:r>
              <a:rPr sz="1050" b="1" i="0">
                <a:solidFill>
                  <a:srgbClr val="FF6A2B"/>
                </a:solidFill>
                <a:latin typeface="IBM Plex Sans"/>
              </a:rPr>
              <a:t>bed stress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14230" y="582100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6A2B"/>
                </a:solidFill>
                <a:latin typeface="IBM Plex Sans"/>
              </a:rPr>
              <a:t>current-driven</a:t>
            </a:r>
          </a:p>
          <a:p>
            <a:pPr algn="ctr"/>
            <a:r>
              <a:rPr sz="1050" b="1" i="0">
                <a:solidFill>
                  <a:srgbClr val="FF6A2B"/>
                </a:solidFill>
                <a:latin typeface="IBM Plex Sans"/>
              </a:rPr>
              <a:t>bed stress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64190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waves and currents rarely line up — the model combines them non-linearly, so the pair bites harder than either alone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ATMOSPHERE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3664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83664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8496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8496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CIRCULATION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WAVES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TURBIDITY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896112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Past a threshold, the bed
lets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go.</a:t>
            </a:r>
          </a:p>
        </p:txBody>
      </p:sp>
      <p:pic>
        <p:nvPicPr>
          <p:cNvPr id="16" name="Picture 15" descr="chain-7d-ero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728" y="1993392"/>
            <a:ext cx="9692640" cy="440574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7589520" y="1021588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19872" y="93268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CALIBRATION PARAMETERS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1316736"/>
            <a:ext cx="4206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CLASSES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two, solved together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fine ≈ 22 µm  ·  coarse ≈ 64 µm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CRITICAL STRESS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0.10 / 0.25 N/m²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SETTLING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2e-4 / 2e-3 m/s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EROSION RATE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3e-4 / 3e-3 NTU·m/s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BACKGROUND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3 NTU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central member — the ensemble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sweeps erosion rate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3228" y="246943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4FC3D7"/>
                </a:solidFill>
                <a:latin typeface="IBM Plex Sans"/>
              </a:rPr>
              <a:t>waves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80379" y="4319705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4FC3D7"/>
                </a:solidFill>
                <a:latin typeface="IBM Plex Sans"/>
              </a:rPr>
              <a:t>orbital motion</a:t>
            </a:r>
          </a:p>
          <a:p>
            <a:pPr algn="r"/>
            <a:r>
              <a:rPr sz="1050" b="1" i="0">
                <a:solidFill>
                  <a:srgbClr val="4FC3D7"/>
                </a:solidFill>
                <a:latin typeface="IBM Plex Sans"/>
              </a:rPr>
              <a:t>flattens onto the bed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7447" y="3767633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91C33"/>
                </a:solidFill>
                <a:latin typeface="IBM Plex Sans"/>
              </a:rPr>
              <a:t>current</a:t>
            </a:r>
          </a:p>
          <a:p>
            <a:pPr algn="l"/>
            <a:r>
              <a:rPr sz="1050" b="1" i="0">
                <a:solidFill>
                  <a:srgbClr val="091C33"/>
                </a:solidFill>
                <a:latin typeface="IBM Plex Sans"/>
              </a:rPr>
              <a:t>strongest at the surface,</a:t>
            </a:r>
          </a:p>
          <a:p>
            <a:pPr algn="l"/>
            <a:r>
              <a:rPr sz="1050" b="1" i="0">
                <a:solidFill>
                  <a:srgbClr val="091C33"/>
                </a:solidFill>
                <a:latin typeface="IBM Plex Sans"/>
              </a:rPr>
              <a:t>slowed by friction at the bed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43308" y="5554710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50" b="1" i="0">
                <a:solidFill>
                  <a:srgbClr val="FF6A2B"/>
                </a:solidFill>
                <a:latin typeface="IBM Plex Sans"/>
              </a:rPr>
              <a:t>wave-driven</a:t>
            </a:r>
          </a:p>
          <a:p>
            <a:pPr algn="r"/>
            <a:r>
              <a:rPr sz="1050" b="1" i="0">
                <a:solidFill>
                  <a:srgbClr val="FF6A2B"/>
                </a:solidFill>
                <a:latin typeface="IBM Plex Sans"/>
              </a:rPr>
              <a:t>bed stress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14230" y="5821002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FF6A2B"/>
                </a:solidFill>
                <a:latin typeface="IBM Plex Sans"/>
              </a:rPr>
              <a:t>current-driven</a:t>
            </a:r>
          </a:p>
          <a:p>
            <a:pPr algn="ctr"/>
            <a:r>
              <a:rPr sz="1050" b="1" i="0">
                <a:solidFill>
                  <a:srgbClr val="FF6A2B"/>
                </a:solidFill>
                <a:latin typeface="IBM Plex Sans"/>
              </a:rPr>
              <a:t>bed stress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37614" y="4254936"/>
            <a:ext cx="2377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8A6A1C"/>
                </a:solidFill>
                <a:latin typeface="IBM Plex Sans"/>
              </a:rPr>
              <a:t>suspended sediment —</a:t>
            </a:r>
          </a:p>
          <a:p>
            <a:pPr algn="l"/>
            <a:r>
              <a:rPr sz="1050" b="1" i="0">
                <a:solidFill>
                  <a:srgbClr val="8A6A1C"/>
                </a:solidFill>
                <a:latin typeface="IBM Plex Sans"/>
              </a:rPr>
              <a:t>most of it near the bed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641908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erosion begins once the combined stress exceeds the bed's critical value; settling never stops, so what you see is the difference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ATMOSPHERE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3664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83664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8496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8496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CIRCULATION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384048"/>
            <a:ext cx="841248" cy="27940"/>
          </a:xfrm>
          <a:prstGeom prst="rect">
            <a:avLst/>
          </a:prstGeom>
          <a:solidFill>
            <a:srgbClr val="D5DBE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8A94A2"/>
                </a:solidFill>
                <a:latin typeface="IBM Plex Mono"/>
              </a:rPr>
              <a:t>WAVES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TURBIDITY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24367" y="365760"/>
            <a:ext cx="2926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0" spc="60">
                <a:solidFill>
                  <a:srgbClr val="4A5665"/>
                </a:solidFill>
                <a:latin typeface="IBM Plex Mono"/>
              </a:rPr>
              <a:t>7 Feb 2022  ·  09:30 UTC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960120"/>
            <a:ext cx="31089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All of it lands
on one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number.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246634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2377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SEDIMENT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2761488"/>
            <a:ext cx="32918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SEDIMENT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two size classes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STRESS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Soulsby (1997)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EROSION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Partheniades (1965)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ENSEMBLE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5 runs of that model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erosion rate x0.5 to x2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HELD TO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in-situ NTU, 6 m depth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CHECKED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MODIS Aqua, qualitative</a:t>
            </a:r>
          </a:p>
        </p:txBody>
      </p:sp>
      <p:pic>
        <p:nvPicPr>
          <p:cNvPr id="20" name="Picture 19" descr="chain-7c-mod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841248"/>
            <a:ext cx="7726679" cy="2812436"/>
          </a:xfrm>
          <a:prstGeom prst="rect">
            <a:avLst/>
          </a:prstGeom>
        </p:spPr>
      </p:pic>
      <p:pic>
        <p:nvPicPr>
          <p:cNvPr id="21" name="Picture 20" descr="chain-7a-calib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517136"/>
            <a:ext cx="10469880" cy="19512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41248" y="645566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a February event, not January: cloud and dust sit over most of the storms worth looking at, and clean scenes are rare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ATMOSPHERE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883664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83664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BOUNDARIES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GRID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8496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68496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CIRCULATION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10912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10912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WAVES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53328" y="384048"/>
            <a:ext cx="841248" cy="2794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502920"/>
            <a:ext cx="104241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" b="0" i="0" spc="70">
                <a:solidFill>
                  <a:srgbClr val="0B1420"/>
                </a:solidFill>
                <a:latin typeface="IBM Plex Mono"/>
              </a:rPr>
              <a:t>TURBIDITY</a:t>
            </a:r>
          </a:p>
        </p:txBody>
      </p:sp>
      <p:pic>
        <p:nvPicPr>
          <p:cNvPr id="15" name="Picture 14" descr="chain-8-cascad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078992"/>
            <a:ext cx="10972800" cy="4846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41248" y="1335024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2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One storm, all
the way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through.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2615184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1300" b="0" i="0">
                <a:solidFill>
                  <a:srgbClr val="4A5665"/>
                </a:solidFill>
                <a:latin typeface="IBM Plex Sans"/>
              </a:rPr>
              <a:t>Wind first, then waves within the hour, then the bed,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4A5665"/>
                </a:solidFill>
                <a:latin typeface="IBM Plex Sans"/>
              </a:rPr>
              <a:t>then the plume at the surface — twelve hours from the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4A5665"/>
                </a:solidFill>
                <a:latin typeface="IBM Plex Sans"/>
              </a:rPr>
              <a:t>shamal peaking to the water going brown.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6364224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the traces are the marked site: wind at midday, waves within the hour, the plume at the surface by eleven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C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2832100"/>
            <a:ext cx="384048" cy="15240"/>
          </a:xfrm>
          <a:prstGeom prst="rect">
            <a:avLst/>
          </a:prstGeom>
          <a:solidFill>
            <a:srgbClr val="4FC3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FC3D7"/>
                </a:solidFill>
                <a:latin typeface="IBM Plex Mono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200400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5800" b="0" i="0">
                <a:solidFill>
                  <a:srgbClr val="F4EFE3"/>
                </a:solidFill>
                <a:latin typeface="Instrument Serif"/>
              </a:rPr>
              <a:t>What we'd
</a:t>
            </a:r>
            <a:r>
              <a:rPr sz="5800" b="0" i="1">
                <a:solidFill>
                  <a:srgbClr val="FF6A2B"/>
                </a:solidFill>
                <a:latin typeface="Instrument Serif"/>
              </a:rPr>
              <a:t>build for you.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SECTION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3800" b="0" i="0">
                <a:solidFill>
                  <a:srgbClr val="0B1420"/>
                </a:solidFill>
                <a:latin typeface="Instrument Serif"/>
              </a:rPr>
              <a:t>Three ways in, in the order
they usually </a:t>
            </a:r>
            <a:r>
              <a:rPr sz="3800" b="0" i="1">
                <a:solidFill>
                  <a:srgbClr val="FF6A2B"/>
                </a:solidFill>
                <a:latin typeface="Instrument Serif"/>
              </a:rPr>
              <a:t>happen.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2724912"/>
            <a:ext cx="3291840" cy="314553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2724912"/>
            <a:ext cx="3291840" cy="3810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99923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80">
                <a:solidFill>
                  <a:srgbClr val="FF6A2B"/>
                </a:solidFill>
                <a:latin typeface="IBM Plex Mono"/>
              </a:rPr>
              <a:t>FIRST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" y="3383280"/>
            <a:ext cx="26700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B1420"/>
                </a:solidFill>
                <a:latin typeface="Instrument Serif"/>
              </a:rPr>
              <a:t>Site characterisation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" y="4078224"/>
            <a:ext cx="2670048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250" b="0" i="0">
                <a:solidFill>
                  <a:srgbClr val="4A5665"/>
                </a:solidFill>
                <a:latin typeface="IBM Plex Sans"/>
              </a:rPr>
              <a:t>A hindcast study at your intake. What the water has actually done — turbidity, temperature, salinity, currents — over ten years, with every event resolved hour by hour.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53128" y="2724912"/>
            <a:ext cx="3291840" cy="314553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53128" y="2724912"/>
            <a:ext cx="3291840" cy="3810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64024" y="299923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80">
                <a:solidFill>
                  <a:srgbClr val="FF6A2B"/>
                </a:solidFill>
                <a:latin typeface="IBM Plex Mono"/>
              </a:rPr>
              <a:t>THEN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4024" y="3383280"/>
            <a:ext cx="26700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B1420"/>
                </a:solidFill>
                <a:latin typeface="Instrument Serif"/>
              </a:rPr>
              <a:t>A daily forecast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4078224"/>
            <a:ext cx="2670048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250" b="0" i="0">
                <a:solidFill>
                  <a:srgbClr val="4A5665"/>
                </a:solidFill>
                <a:latin typeface="IBM Plex Sans"/>
              </a:rPr>
              <a:t>The same models, run every morning without anyone touching them, through a dashboard designed around your intake depth and your own thresholds. Seven days ahead.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724912"/>
            <a:ext cx="3291840" cy="314553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2724912"/>
            <a:ext cx="3291840" cy="3810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5904" y="299923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80">
                <a:solidFill>
                  <a:srgbClr val="FF6A2B"/>
                </a:solidFill>
                <a:latin typeface="IBM Plex Mono"/>
              </a:rPr>
              <a:t>LATER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3383280"/>
            <a:ext cx="267004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400" b="0" i="0">
                <a:solidFill>
                  <a:srgbClr val="0B1420"/>
                </a:solidFill>
                <a:latin typeface="Instrument Serif"/>
              </a:rPr>
              <a:t>Climate outlook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4078224"/>
            <a:ext cx="2670048" cy="17007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250" b="0" i="0">
                <a:solidFill>
                  <a:srgbClr val="4A5665"/>
                </a:solidFill>
                <a:latin typeface="IBM Plex Sans"/>
              </a:rPr>
              <a:t>The same chain, forced by climate projections instead of reanalysis, to ask what the intake looks like in the 2050s. The one thing here we have not yet delivered.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6144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a sequence, not a menu — each step is built out of what the one before it produced, which is why the second is cheap once the first exists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OFFERING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61872"/>
            <a:ext cx="6035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3600" b="0" i="0">
                <a:solidFill>
                  <a:srgbClr val="0B1420"/>
                </a:solidFill>
                <a:latin typeface="Instrument Serif"/>
              </a:rPr>
              <a:t>Start with what the water
has </a:t>
            </a:r>
            <a:r>
              <a:rPr sz="3600" b="0" i="1">
                <a:solidFill>
                  <a:srgbClr val="FF6A2B"/>
                </a:solidFill>
                <a:latin typeface="Instrument Serif"/>
              </a:rPr>
              <a:t>already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88920"/>
            <a:ext cx="59436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500" b="0" i="0">
                <a:solidFill>
                  <a:srgbClr val="4A5665"/>
                </a:solidFill>
                <a:latin typeface="IBM Plex Sans"/>
              </a:rPr>
              <a:t>Ten years of hourly conditions at your intake, from the chain you have just seen — not a nearby buoy, not a regional average.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500" b="0" i="0">
                <a:solidFill>
                  <a:srgbClr val="4A5665"/>
                </a:solidFill>
                <a:latin typeface="IBM Plex Sans"/>
              </a:rPr>
              <a:t>Every shamal since 2015 resolved: how fast turbidity climbed, how high, how long it held, at the depth you actually draw from.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500" b="0" i="0">
                <a:solidFill>
                  <a:srgbClr val="4A5665"/>
                </a:solidFill>
                <a:latin typeface="IBM Plex Sans"/>
              </a:rPr>
              <a:t>The numbers a design or an operating procedure needs: exceedance statistics, event durations, seasonal envelopes.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500" b="0" i="0">
                <a:solidFill>
                  <a:srgbClr val="4A5665"/>
                </a:solidFill>
                <a:latin typeface="IBM Plex Sans"/>
              </a:rPr>
              <a:t>Brine recirculation, where that is the question: whether your outfall, or your neighbour's, reaches your own intake.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387348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8431" y="12984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WHAT A STUDY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82496"/>
            <a:ext cx="4206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PERIOD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2015 → present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OUTPUT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hourly  ·  all 15 levels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VARIABLES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T, S, u, v, Hs, Tp, NTU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RESOLUTION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3.5 km, nested to ~1 km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DELIVERABLE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technical report + the data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extraction at your own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intake coordinates and depth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4315968"/>
            <a:ext cx="4206240" cy="16824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4315968"/>
            <a:ext cx="38100" cy="1682496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8975" y="4553712"/>
            <a:ext cx="35844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70">
                <a:solidFill>
                  <a:srgbClr val="FF6A2B"/>
                </a:solidFill>
                <a:latin typeface="IBM Plex Mono"/>
              </a:rPr>
              <a:t>SCOPE, STATED UP FRONT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5" y="4919472"/>
            <a:ext cx="3584448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250" b="0" i="0">
                <a:solidFill>
                  <a:srgbClr val="4A5665"/>
                </a:solidFill>
                <a:latin typeface="IBM Plex Sans"/>
              </a:rPr>
              <a:t>Turbidity here is sediment-driven — shamal-stirred plumes and wadi input. Algal blooms and biological fouling are not modelled, and we would rather say so than be asked.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144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the study stands on its own — it is not a sales doorbell for the subscription, and it is scoped to a question you already have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C3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FC3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FC3D7"/>
                </a:solidFill>
                <a:latin typeface="IBM Plex Mono"/>
              </a:rPr>
              <a:t>OFFERING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61872"/>
            <a:ext cx="104241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4000" b="0" i="0">
                <a:solidFill>
                  <a:srgbClr val="F4EFE3"/>
                </a:solidFill>
                <a:latin typeface="Instrument Serif"/>
              </a:rPr>
              <a:t>These models already run
every </a:t>
            </a:r>
            <a:r>
              <a:rPr sz="4000" b="0" i="1">
                <a:solidFill>
                  <a:srgbClr val="FF6A2B"/>
                </a:solidFill>
                <a:latin typeface="Instrument Serif"/>
              </a:rPr>
              <a:t>morning.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92608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0" i="0">
                <a:solidFill>
                  <a:srgbClr val="FF6A2B"/>
                </a:solidFill>
                <a:latin typeface="Instrument Serif"/>
              </a:rPr>
              <a:t>Daily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206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 b="0" i="0" spc="120">
                <a:solidFill>
                  <a:srgbClr val="A8E0EA"/>
                </a:solidFill>
                <a:latin typeface="IBM Plex Mono"/>
              </a:rPr>
              <a:t>ONE FULL CYCLE, 00Z,
FIRED AT 06:00 UTC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5968" y="292608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0" i="0">
                <a:solidFill>
                  <a:srgbClr val="FF6A2B"/>
                </a:solidFill>
                <a:latin typeface="Instrument Serif"/>
              </a:rPr>
              <a:t>7 days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4206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 b="0" i="0" spc="120">
                <a:solidFill>
                  <a:srgbClr val="A8E0EA"/>
                </a:solidFill>
                <a:latin typeface="IBM Plex Mono"/>
              </a:rPr>
              <a:t>FORECAST HORIZON,
HOURLY THROUGHOUT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90688" y="292608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6000" b="0" i="0">
                <a:solidFill>
                  <a:srgbClr val="FF6A2B"/>
                </a:solidFill>
                <a:latin typeface="Instrument Serif"/>
              </a:rPr>
              <a:t>75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90688" y="4206240"/>
            <a:ext cx="32918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100" b="0" i="0" spc="120">
                <a:solidFill>
                  <a:srgbClr val="A8E0EA"/>
                </a:solidFill>
                <a:latin typeface="IBM Plex Mono"/>
              </a:rPr>
              <a:t>FROM RAW GLOBAL DATA
TO A PUBLISHED FORECAST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5138928"/>
            <a:ext cx="10515600" cy="1682496"/>
          </a:xfrm>
          <a:prstGeom prst="rect">
            <a:avLst/>
          </a:prstGeom>
          <a:solidFill>
            <a:srgbClr val="13294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5138928"/>
            <a:ext cx="38100" cy="1682496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5376672"/>
            <a:ext cx="98938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70">
                <a:solidFill>
                  <a:srgbClr val="FF6A2B"/>
                </a:solidFill>
                <a:latin typeface="IBM Plex Mono"/>
              </a:rPr>
              <a:t>WHAT WE WILL NOT 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5742432"/>
            <a:ext cx="9893808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250" b="0" i="0">
                <a:solidFill>
                  <a:srgbClr val="A8E0EA"/>
                </a:solidFill>
                <a:latin typeface="IBM Plex Sans"/>
              </a:rPr>
              <a:t>Today this is best-effort: automated, monitored, and delivered every morning — but without a contractual uptime guarantee, because one person cannot honour a 24/7 SLA. We price it as what it is. Early users are supplementing what they already have, not betting the plant.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747268"/>
            <a:ext cx="384048" cy="15240"/>
          </a:xfrm>
          <a:prstGeom prst="rect">
            <a:avLst/>
          </a:prstGeom>
          <a:solidFill>
            <a:srgbClr val="4FC3D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5836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FC3D7"/>
                </a:solidFill>
                <a:latin typeface="IBM Plex Mono"/>
              </a:rPr>
              <a:t>OFFERING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24128"/>
            <a:ext cx="6400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3400" b="0" i="0">
                <a:solidFill>
                  <a:srgbClr val="F4EFE3"/>
                </a:solidFill>
                <a:latin typeface="Instrument Serif"/>
              </a:rPr>
              <a:t>Built with you, not
handed </a:t>
            </a:r>
            <a:r>
              <a:rPr sz="3400" b="0" i="1">
                <a:solidFill>
                  <a:srgbClr val="FF6A2B"/>
                </a:solidFill>
                <a:latin typeface="Instrument Serif"/>
              </a:rPr>
              <a:t>to you.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377440"/>
            <a:ext cx="53949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6000"/>
              </a:lnSpc>
              <a:spcAft>
                <a:spcPts val="1200"/>
              </a:spcAft>
            </a:pPr>
            <a:r>
              <a:rPr sz="14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400" b="0" i="0">
                <a:solidFill>
                  <a:srgbClr val="A8E0EA"/>
                </a:solidFill>
                <a:latin typeface="IBM Plex Sans"/>
              </a:rPr>
              <a:t>Your intake, at your depth — not the nearest grid point at the surface.</a:t>
            </a:r>
          </a:p>
          <a:p>
            <a:pPr>
              <a:lnSpc>
                <a:spcPct val="136000"/>
              </a:lnSpc>
              <a:spcAft>
                <a:spcPts val="1200"/>
              </a:spcAft>
            </a:pPr>
            <a:r>
              <a:rPr sz="14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400" b="0" i="0">
                <a:solidFill>
                  <a:srgbClr val="A8E0EA"/>
                </a:solidFill>
                <a:latin typeface="IBM Plex Sans"/>
              </a:rPr>
              <a:t>Your thresholds and your alarm levels, in the units your operators already use.</a:t>
            </a:r>
          </a:p>
          <a:p>
            <a:pPr>
              <a:lnSpc>
                <a:spcPct val="136000"/>
              </a:lnSpc>
              <a:spcAft>
                <a:spcPts val="1200"/>
              </a:spcAft>
            </a:pPr>
            <a:r>
              <a:rPr sz="14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400" b="0" i="0">
                <a:solidFill>
                  <a:srgbClr val="A8E0EA"/>
                </a:solidFill>
                <a:latin typeface="IBM Plex Sans"/>
              </a:rPr>
              <a:t>Turbidity shown as all five ensemble members, so you see the spread rather than a single number pretending to certainty.</a:t>
            </a:r>
          </a:p>
          <a:p>
            <a:pPr>
              <a:lnSpc>
                <a:spcPct val="136000"/>
              </a:lnSpc>
              <a:spcAft>
                <a:spcPts val="1200"/>
              </a:spcAft>
            </a:pPr>
            <a:r>
              <a:rPr sz="14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400" b="0" i="0">
                <a:solidFill>
                  <a:srgbClr val="A8E0EA"/>
                </a:solidFill>
                <a:latin typeface="IBM Plex Sans"/>
              </a:rPr>
              <a:t>Water level, waves, temperature, salinity and currents alongside it, because they cost nothing once the model runs.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810512"/>
            <a:ext cx="4663440" cy="3712463"/>
          </a:xfrm>
          <a:prstGeom prst="rect">
            <a:avLst/>
          </a:prstGeom>
          <a:solidFill>
            <a:srgbClr val="13294A"/>
          </a:solidFill>
          <a:ln w="12700">
            <a:solidFill>
              <a:srgbClr val="4FC3D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3474720"/>
            <a:ext cx="46634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 spc="120">
                <a:solidFill>
                  <a:srgbClr val="A8E0EA"/>
                </a:solidFill>
                <a:latin typeface="IBM Plex Mono"/>
              </a:rPr>
              <a:t>[ REPLACE WITH DASHBOARD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7044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8A94A2"/>
                </a:solidFill>
                <a:latin typeface="IBM Plex Sans"/>
              </a:rPr>
              <a:t>the same public site that runs the Gulf today — a client view is a point extraction, a threshold config and a login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957580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686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OFFERING 03  ·  IN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61872"/>
            <a:ext cx="6400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3600" b="0" i="0">
                <a:solidFill>
                  <a:srgbClr val="0B1420"/>
                </a:solidFill>
                <a:latin typeface="Instrument Serif"/>
              </a:rPr>
              <a:t>And what the intake
looks like </a:t>
            </a:r>
            <a:r>
              <a:rPr sz="3600" b="0" i="1">
                <a:solidFill>
                  <a:srgbClr val="FF6A2B"/>
                </a:solidFill>
                <a:latin typeface="Instrument Serif"/>
              </a:rPr>
              <a:t>in 2050.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88920"/>
            <a:ext cx="603504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500" b="0" i="0">
                <a:solidFill>
                  <a:srgbClr val="4A5665"/>
                </a:solidFill>
                <a:latin typeface="IBM Plex Sans"/>
              </a:rPr>
              <a:t>A plant commissioned today will still be drawing water in the 2050s. It is being designed against the last ten years.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500" b="0" i="0">
                <a:solidFill>
                  <a:srgbClr val="4A5665"/>
                </a:solidFill>
                <a:latin typeface="IBM Plex Sans"/>
              </a:rPr>
              <a:t>The Gulf is warming, and its salinity is rising — in part under the cumulative brine load of the region's own plants.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500" b="0" i="0">
                <a:solidFill>
                  <a:srgbClr val="4A5665"/>
                </a:solidFill>
                <a:latin typeface="IBM Plex Sans"/>
              </a:rPr>
              <a:t>Both move the numbers a train is sized against: feed temperature sets flux, energy and boron passage; feed salinity sets recovery.</a:t>
            </a:r>
          </a:p>
          <a:p>
            <a:pPr>
              <a:lnSpc>
                <a:spcPct val="132000"/>
              </a:lnSpc>
              <a:spcAft>
                <a:spcPts val="1100"/>
              </a:spcAft>
            </a:pPr>
            <a:r>
              <a:rPr sz="1500" b="0" i="0">
                <a:solidFill>
                  <a:srgbClr val="FF6A2B"/>
                </a:solidFill>
                <a:latin typeface="IBM Plex Sans"/>
              </a:rPr>
              <a:t>—  </a:t>
            </a:r>
            <a:r>
              <a:rPr sz="1500" b="0" i="0">
                <a:solidFill>
                  <a:srgbClr val="4A5665"/>
                </a:solidFill>
                <a:latin typeface="IBM Plex Sans"/>
              </a:rPr>
              <a:t>The chain does not care what forces it — swap reanalysis for downscaled projections and it answers 2050, not tomorrow.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387348"/>
            <a:ext cx="384048" cy="15240"/>
          </a:xfrm>
          <a:prstGeom prst="rect">
            <a:avLst/>
          </a:prstGeom>
          <a:solidFill>
            <a:srgbClr val="4A566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8431" y="1298448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0" spc="180">
                <a:solidFill>
                  <a:srgbClr val="4A5665"/>
                </a:solidFill>
                <a:latin typeface="IBM Plex Mono"/>
              </a:rPr>
              <a:t>HOW IT WOULD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82496"/>
            <a:ext cx="420624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Bef>
                <a:spcPts val="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METHOD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dynamical downscaling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FORCING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CMIP6, two scenarios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HORIZON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2050s and 2080s slices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ANSWERS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T, S and NTU at the intake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BUILT ON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the identical CROCO, WW3</a:t>
            </a:r>
          </a:p>
          <a:p>
            <a:pPr>
              <a:spcBef>
                <a:spcPts val="500"/>
              </a:spcBef>
            </a:pPr>
            <a:r>
              <a:rPr sz="1000" b="0" i="0">
                <a:solidFill>
                  <a:srgbClr val="4A5665"/>
                </a:solidFill>
                <a:latin typeface="IBM Plex Mono"/>
              </a:rPr>
              <a:t>and sediment configuration</a:t>
            </a:r>
          </a:p>
          <a:p>
            <a:pPr>
              <a:spcBef>
                <a:spcPts val="500"/>
              </a:spcBef>
            </a:pPr>
            <a:r>
              <a:rPr sz="900" b="0" i="0" spc="60">
                <a:solidFill>
                  <a:srgbClr val="8A94A2"/>
                </a:solidFill>
                <a:latin typeface="IBM Plex Mono"/>
              </a:rPr>
              <a:t>STATUS  </a:t>
            </a:r>
            <a:r>
              <a:rPr sz="1000" b="0" i="0">
                <a:solidFill>
                  <a:srgbClr val="4A5665"/>
                </a:solidFill>
                <a:latin typeface="IBM Plex Mono"/>
              </a:rPr>
              <a:t>capability, not yet a product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4315968"/>
            <a:ext cx="4206240" cy="1682496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4315968"/>
            <a:ext cx="38100" cy="1682496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8975" y="4553712"/>
            <a:ext cx="35844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 spc="170">
                <a:solidFill>
                  <a:srgbClr val="FF6A2B"/>
                </a:solidFill>
                <a:latin typeface="IBM Plex Mono"/>
              </a:rPr>
              <a:t>WHERE THIS ACTUALLY 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08975" y="4919472"/>
            <a:ext cx="3584448" cy="9692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250" b="0" i="0">
                <a:solidFill>
                  <a:srgbClr val="4A5665"/>
                </a:solidFill>
                <a:latin typeface="IBM Plex Sans"/>
              </a:rPr>
              <a:t>The model chain exists and has been assessed. The climate forcing and the downscaling protocol have not been built. We would rather name that than imply a track record we do not have.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6144768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0" i="1">
                <a:solidFill>
                  <a:srgbClr val="4A5665"/>
                </a:solidFill>
                <a:latin typeface="IBM Plex Sans"/>
              </a:rPr>
              <a:t>this is the piece a first client part-funds — and the reason to have the conversation before the design is frozen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0"/>
            <a:ext cx="1051560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4600" b="0" i="0">
                <a:solidFill>
                  <a:srgbClr val="0B1420"/>
                </a:solidFill>
                <a:latin typeface="Instrument Serif"/>
              </a:rPr>
              <a:t>The people who have to know
what the sea is doing </a:t>
            </a:r>
            <a:r>
              <a:rPr sz="4600" b="0" i="1">
                <a:solidFill>
                  <a:srgbClr val="FF6A2B"/>
                </a:solidFill>
                <a:latin typeface="Instrument Serif"/>
              </a:rPr>
              <a:t>shouldn't
be guessing</a:t>
            </a:r>
            <a:r>
              <a:rPr sz="4600" b="0" i="0">
                <a:solidFill>
                  <a:srgbClr val="0B1420"/>
                </a:solidFill>
                <a:latin typeface="Instrument Serif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F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om-mark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612648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61872" y="64008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200" b="0" i="0">
                <a:solidFill>
                  <a:srgbClr val="F4EFE3"/>
                </a:solidFill>
                <a:latin typeface="Instrument Serif"/>
              </a:rPr>
              <a:t>O</a:t>
            </a:r>
            <a:r>
              <a:rPr sz="2200" b="0" i="0">
                <a:solidFill>
                  <a:srgbClr val="EDEEE4"/>
                </a:solidFill>
                <a:latin typeface="Instrument Serif"/>
              </a:rPr>
              <a:t>c</a:t>
            </a:r>
            <a:r>
              <a:rPr sz="2200" b="0" i="0">
                <a:solidFill>
                  <a:srgbClr val="E6ECE4"/>
                </a:solidFill>
                <a:latin typeface="Instrument Serif"/>
              </a:rPr>
              <a:t>e</a:t>
            </a:r>
            <a:r>
              <a:rPr sz="2200" b="0" i="0">
                <a:solidFill>
                  <a:srgbClr val="DFEBE5"/>
                </a:solidFill>
                <a:latin typeface="Instrument Serif"/>
              </a:rPr>
              <a:t>a</a:t>
            </a:r>
            <a:r>
              <a:rPr sz="2200" b="0" i="0">
                <a:solidFill>
                  <a:srgbClr val="D8EAE6"/>
                </a:solidFill>
                <a:latin typeface="Instrument Serif"/>
              </a:rPr>
              <a:t>n</a:t>
            </a:r>
            <a:r>
              <a:rPr sz="2200" b="0" i="0">
                <a:solidFill>
                  <a:srgbClr val="D1E8E6"/>
                </a:solidFill>
                <a:latin typeface="Instrument Serif"/>
              </a:rPr>
              <a:t> </a:t>
            </a:r>
            <a:r>
              <a:rPr sz="2200" b="0" i="0">
                <a:solidFill>
                  <a:srgbClr val="CBE7E7"/>
                </a:solidFill>
                <a:latin typeface="Instrument Serif"/>
              </a:rPr>
              <a:t>M</a:t>
            </a:r>
            <a:r>
              <a:rPr sz="2200" b="0" i="0">
                <a:solidFill>
                  <a:srgbClr val="C4E5E7"/>
                </a:solidFill>
                <a:latin typeface="Instrument Serif"/>
              </a:rPr>
              <a:t>o</a:t>
            </a:r>
            <a:r>
              <a:rPr sz="2200" b="0" i="0">
                <a:solidFill>
                  <a:srgbClr val="BDE4E8"/>
                </a:solidFill>
                <a:latin typeface="Instrument Serif"/>
              </a:rPr>
              <a:t>t</a:t>
            </a:r>
            <a:r>
              <a:rPr sz="2200" b="0" i="0">
                <a:solidFill>
                  <a:srgbClr val="B6E3E9"/>
                </a:solidFill>
                <a:latin typeface="Instrument Serif"/>
              </a:rPr>
              <a:t>i</a:t>
            </a:r>
            <a:r>
              <a:rPr sz="2200" b="0" i="0">
                <a:solidFill>
                  <a:srgbClr val="AFE1E9"/>
                </a:solidFill>
                <a:latin typeface="Instrument Serif"/>
              </a:rPr>
              <a:t>o</a:t>
            </a:r>
            <a:r>
              <a:rPr sz="2200" b="0" i="0">
                <a:solidFill>
                  <a:srgbClr val="A8E0EA"/>
                </a:solidFill>
                <a:latin typeface="Instrument Serif"/>
              </a:rPr>
              <a:t>n</a:t>
            </a:r>
            <a:r>
              <a:rPr sz="2200" b="0" i="0">
                <a:solidFill>
                  <a:srgbClr val="A8E0EA"/>
                </a:solidFill>
                <a:latin typeface="Instrument Serif"/>
              </a:rPr>
              <a:t> </a:t>
            </a:r>
            <a:r>
              <a:rPr sz="1000" b="0" i="0" spc="220">
                <a:solidFill>
                  <a:srgbClr val="A8E0EA"/>
                </a:solidFill>
                <a:latin typeface="IBM Plex Mono"/>
              </a:rPr>
              <a:t>ANALYTICS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993392"/>
            <a:ext cx="1463040" cy="25400"/>
          </a:xfrm>
          <a:prstGeom prst="rect">
            <a:avLst/>
          </a:prstGeom>
          <a:solidFill>
            <a:srgbClr val="FF6A2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67712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3000"/>
              </a:lnSpc>
            </a:pPr>
            <a:r>
              <a:rPr sz="5200" b="0" i="0">
                <a:solidFill>
                  <a:srgbClr val="F4EFE3"/>
                </a:solidFill>
                <a:latin typeface="Instrument Serif"/>
              </a:rPr>
              <a:t>Tell us what you're
</a:t>
            </a:r>
            <a:r>
              <a:rPr sz="5200" b="0" i="1">
                <a:solidFill>
                  <a:srgbClr val="FF6A2B"/>
                </a:solidFill>
                <a:latin typeface="Instrument Serif"/>
              </a:rPr>
              <a:t>working 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93192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8000"/>
              </a:lnSpc>
            </a:pPr>
            <a:r>
              <a:rPr sz="1500" b="0" i="0">
                <a:solidFill>
                  <a:srgbClr val="A8E0EA"/>
                </a:solidFill>
                <a:latin typeface="IBM Plex Sans"/>
              </a:rPr>
              <a:t>The next step we would propose is a scoped characterisation study at one intake — yours. Thirty minutes first, to work out whether it maps to a problem you actually have.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193792"/>
            <a:ext cx="9144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1" i="0">
                <a:solidFill>
                  <a:srgbClr val="F4EFE3"/>
                </a:solidFill>
                <a:latin typeface="IBM Plex Sans"/>
              </a:rPr>
              <a:t>Giles Fearon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A8E0EA"/>
                </a:solidFill>
                <a:latin typeface="IBM Plex Mono"/>
              </a:rPr>
              <a:t>giles@oceanmotionanalytics.com</a:t>
            </a:r>
          </a:p>
          <a:p>
            <a:pPr>
              <a:spcBef>
                <a:spcPts val="200"/>
              </a:spcBef>
            </a:pPr>
            <a:r>
              <a:rPr sz="1300" b="0" i="0">
                <a:solidFill>
                  <a:srgbClr val="8A94A2"/>
                </a:solidFill>
                <a:latin typeface="IBM Plex Mono"/>
              </a:rPr>
              <a:t>oceanmotionanalytics.com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Instrument Serif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BM Plex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