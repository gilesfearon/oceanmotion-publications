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embeddedFontLst>
    <p:embeddedFont>
      <p:font typeface="Instrument Serif" charset="0"/>
      <p:regular r:id="rId16"/>
      <p:italic r:id="rId17"/>
    </p:embeddedFont>
    <p:embeddedFont>
      <p:font typeface="IBM Plex Sans" charset="0"/>
      <p:regular r:id="rId18"/>
      <p:bold r:id="rId19"/>
      <p:italic r:id="rId20"/>
      <p:boldItalic r:id="rId21"/>
    </p:embeddedFont>
    <p:embeddedFont>
      <p:font typeface="IBM Plex Mono" charset="0"/>
      <p:regular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-streamline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41248" y="219456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om-mark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468880"/>
            <a:ext cx="9601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Ocean models, built for
</a:t>
            </a:r>
          </a:p>
          <a:p>
            <a:pPr>
              <a:lnSpc>
                <a:spcPct val="102000"/>
              </a:lnSpc>
            </a:pPr>
            <a:r>
              <a:rPr sz="5800" b="0" i="0">
                <a:solidFill>
                  <a:srgbClr val="F4EFE3"/>
                </a:solidFill>
                <a:latin typeface="Instrument Serif"/>
              </a:rPr>
              <a:t>decisions </a:t>
            </a:r>
            <a:r>
              <a:rPr sz="5800" b="0" i="1">
                <a:solidFill>
                  <a:srgbClr val="FF6A2B"/>
                </a:solidFill>
                <a:latin typeface="Instrument Serif"/>
              </a:rPr>
              <a:t>that can't wait</a:t>
            </a:r>
            <a:r>
              <a:rPr sz="58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949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200">
                <a:solidFill>
                  <a:srgbClr val="A8E0EA"/>
                </a:solidFill>
                <a:latin typeface="IBM Plex Mono"/>
              </a:rPr>
              <a:t>PITCH DECK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8A94A2"/>
                </a:solidFill>
                <a:latin typeface="IBM Plex Sans"/>
              </a:rPr>
              <a:t>Prepared for [Client]  ·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400" b="0" i="0">
                <a:solidFill>
                  <a:srgbClr val="0B1420"/>
                </a:solidFill>
                <a:latin typeface="Instrument Serif"/>
              </a:rPr>
              <a:t>What we'll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9144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01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The problem you're solving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02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How we model it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03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Live forecast — your site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04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What you'd receive, day to day</a:t>
            </a:r>
          </a:p>
          <a:p>
            <a:pPr>
              <a:spcAft>
                <a:spcPts val="1400"/>
              </a:spcAft>
            </a:pPr>
            <a:r>
              <a:rPr sz="1500" b="0" i="0" spc="80">
                <a:solidFill>
                  <a:srgbClr val="FF6A2B"/>
                </a:solidFill>
                <a:latin typeface="IBM Plex Mono"/>
              </a:rPr>
              <a:t>05</a:t>
            </a:r>
            <a:r>
              <a:rPr sz="2200" b="0" i="0">
                <a:solidFill>
                  <a:srgbClr val="0B1420"/>
                </a:solidFill>
                <a:latin typeface="IBM Plex Sans"/>
              </a:rPr>
              <a:t>    Scope, timeline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283210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6000" b="0" i="0">
                <a:solidFill>
                  <a:srgbClr val="F4EFE3"/>
                </a:solidFill>
                <a:latin typeface="Instrument Serif"/>
              </a:rPr>
              <a:t>How we </a:t>
            </a:r>
            <a:r>
              <a:rPr sz="6000" b="0" i="1">
                <a:solidFill>
                  <a:srgbClr val="FF6A2B"/>
                </a:solidFill>
                <a:latin typeface="Instrument Serif"/>
              </a:rPr>
              <a:t>model</a:t>
            </a:r>
            <a:r>
              <a:rPr sz="6000" b="0" i="0">
                <a:solidFill>
                  <a:srgbClr val="F4EFE3"/>
                </a:solidFill>
                <a:latin typeface="Instrument Serif"/>
              </a:rPr>
              <a:t> your water.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4200" b="0" i="0">
                <a:solidFill>
                  <a:srgbClr val="0B1420"/>
                </a:solidFill>
                <a:latin typeface="Instrument Serif"/>
              </a:rPr>
              <a:t>Physics first, </a:t>
            </a:r>
            <a:r>
              <a:rPr sz="4200" b="0" i="1">
                <a:solidFill>
                  <a:srgbClr val="FF6A2B"/>
                </a:solidFill>
                <a:latin typeface="Instrument Serif"/>
              </a:rPr>
              <a:t>tuned to your site</a:t>
            </a:r>
            <a:r>
              <a:rPr sz="42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34640"/>
            <a:ext cx="7680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A regional ocean model nested down to the port, plant or site of interest.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Forced with the best available atmospheric, tidal and boundary data, updated every day.</a:t>
            </a:r>
          </a:p>
          <a:p>
            <a:pPr>
              <a:lnSpc>
                <a:spcPct val="140000"/>
              </a:lnSpc>
              <a:spcAft>
                <a:spcPts val="1600"/>
              </a:spcAft>
            </a:pPr>
            <a:r>
              <a:rPr sz="1900" b="0" i="0">
                <a:solidFill>
                  <a:srgbClr val="FF6A2B"/>
                </a:solidFill>
                <a:latin typeface="IBM Plex Sans"/>
              </a:rPr>
              <a:t>—  </a:t>
            </a:r>
            <a:r>
              <a:rPr sz="1900" b="0" i="0">
                <a:solidFill>
                  <a:srgbClr val="4A5665"/>
                </a:solidFill>
                <a:latin typeface="IBM Plex Sans"/>
              </a:rPr>
              <a:t>Outputs framed as the decision you actually make — operability windows, go/no-go, thresholds.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A566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A5665"/>
                </a:solidFill>
                <a:latin typeface="IBM Plex Mono"/>
              </a:rPr>
              <a:t>WHAT WE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0B1420"/>
                </a:solidFill>
                <a:latin typeface="Instrument Serif"/>
              </a:rPr>
              <a:t>From physics to decisions.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272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RECURRING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run them every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Regional and hyper-local forecasts at your site, updated daily. Operability windows, go/no-go calls, custom thresholds.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5074920" cy="3108960"/>
          </a:xfrm>
          <a:prstGeom prst="rect">
            <a:avLst/>
          </a:prstGeom>
          <a:solidFill>
            <a:srgbClr val="EFE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73368" y="2651760"/>
            <a:ext cx="5074920" cy="381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8" y="2971800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180">
                <a:solidFill>
                  <a:srgbClr val="FF6A2B"/>
                </a:solidFill>
                <a:latin typeface="IBM Plex Mono"/>
              </a:rPr>
              <a:t>ONE-OFF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342900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0" i="0">
                <a:solidFill>
                  <a:srgbClr val="0B1420"/>
                </a:solidFill>
                <a:latin typeface="Instrument Serif"/>
              </a:rPr>
              <a:t>We build ocean models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4206240"/>
            <a:ext cx="4251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500" b="0" i="0">
                <a:solidFill>
                  <a:srgbClr val="4A5665"/>
                </a:solidFill>
                <a:latin typeface="IBM Plex Sans"/>
              </a:rPr>
              <a:t>Model development, hindcasts, dispersion and transport, design criteria. Each engagement scoped to a specific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0"/>
            <a:ext cx="10515600" cy="685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4600" b="0" i="0">
                <a:solidFill>
                  <a:srgbClr val="0B1420"/>
                </a:solidFill>
                <a:latin typeface="Instrument Serif"/>
              </a:rPr>
              <a:t>The people who have to know
what the sea is doing </a:t>
            </a:r>
            <a:r>
              <a:rPr sz="4600" b="0" i="1">
                <a:solidFill>
                  <a:srgbClr val="FF6A2B"/>
                </a:solidFill>
                <a:latin typeface="Instrument Serif"/>
              </a:rPr>
              <a:t>shouldn't
be guessing</a:t>
            </a:r>
            <a:r>
              <a:rPr sz="4600" b="0" i="0">
                <a:solidFill>
                  <a:srgbClr val="0B1420"/>
                </a:solidFill>
                <a:latin typeface="Instrument Serif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7289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LIVE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0" i="0">
                <a:solidFill>
                  <a:srgbClr val="F4EFE3"/>
                </a:solidFill>
                <a:latin typeface="Instrument Serif"/>
              </a:rPr>
              <a:t>Your site,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874519"/>
            <a:ext cx="10515600" cy="4297680"/>
          </a:xfrm>
          <a:prstGeom prst="rect">
            <a:avLst/>
          </a:prstGeom>
          <a:solidFill>
            <a:srgbClr val="13294A"/>
          </a:solidFill>
          <a:ln w="12700">
            <a:solidFill>
              <a:srgbClr val="4FC3D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749039"/>
            <a:ext cx="10515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 i="0" spc="120">
                <a:solidFill>
                  <a:srgbClr val="A8E0EA"/>
                </a:solidFill>
                <a:latin typeface="IBM Plex Mono"/>
              </a:rPr>
              <a:t>[ REPLACE WITH DASHBOARD SCREENSHOT / RECORDING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C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" y="957580"/>
            <a:ext cx="384048" cy="15240"/>
          </a:xfrm>
          <a:prstGeom prst="rect">
            <a:avLst/>
          </a:prstGeom>
          <a:solidFill>
            <a:srgbClr val="4FC3D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868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80">
                <a:solidFill>
                  <a:srgbClr val="4FC3D7"/>
                </a:solidFill>
                <a:latin typeface="IBM Plex Mono"/>
              </a:rPr>
              <a:t>WHAT YOU'D RECEIVE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200" b="0" i="0">
                <a:solidFill>
                  <a:srgbClr val="F4EFE3"/>
                </a:solidFill>
                <a:latin typeface="Instrument Serif"/>
              </a:rPr>
              <a:t>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Daily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FORECAST 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72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LEAD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30175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600" b="0" i="0">
                <a:solidFill>
                  <a:srgbClr val="FF6A2B"/>
                </a:solidFill>
                <a:latin typeface="Instrument Serif"/>
              </a:rPr>
              <a:t>Your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42976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50">
                <a:solidFill>
                  <a:srgbClr val="A8E0EA"/>
                </a:solidFill>
                <a:latin typeface="IBM Plex Mono"/>
              </a:rPr>
              <a:t>THRESHOLDS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F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om-mark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61264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61872" y="64008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4EFE3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EDEEE4"/>
                </a:solidFill>
                <a:latin typeface="Instrument Serif"/>
              </a:rPr>
              <a:t>c</a:t>
            </a:r>
            <a:r>
              <a:rPr sz="2200" b="0" i="0">
                <a:solidFill>
                  <a:srgbClr val="E6ECE4"/>
                </a:solidFill>
                <a:latin typeface="Instrument Serif"/>
              </a:rPr>
              <a:t>e</a:t>
            </a:r>
            <a:r>
              <a:rPr sz="2200" b="0" i="0">
                <a:solidFill>
                  <a:srgbClr val="DFEBE5"/>
                </a:solidFill>
                <a:latin typeface="Instrument Serif"/>
              </a:rPr>
              <a:t>a</a:t>
            </a:r>
            <a:r>
              <a:rPr sz="2200" b="0" i="0">
                <a:solidFill>
                  <a:srgbClr val="D8EAE6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D1E8E6"/>
                </a:solidFill>
                <a:latin typeface="Instrument Serif"/>
              </a:rPr>
              <a:t> </a:t>
            </a:r>
            <a:r>
              <a:rPr sz="2200" b="0" i="0">
                <a:solidFill>
                  <a:srgbClr val="CBE7E7"/>
                </a:solidFill>
                <a:latin typeface="Instrument Serif"/>
              </a:rPr>
              <a:t>M</a:t>
            </a:r>
            <a:r>
              <a:rPr sz="2200" b="0" i="0">
                <a:solidFill>
                  <a:srgbClr val="C4E5E7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BDE4E8"/>
                </a:solidFill>
                <a:latin typeface="Instrument Serif"/>
              </a:rPr>
              <a:t>t</a:t>
            </a:r>
            <a:r>
              <a:rPr sz="2200" b="0" i="0">
                <a:solidFill>
                  <a:srgbClr val="B6E3E9"/>
                </a:solidFill>
                <a:latin typeface="Instrument Serif"/>
              </a:rPr>
              <a:t>i</a:t>
            </a:r>
            <a:r>
              <a:rPr sz="2200" b="0" i="0">
                <a:solidFill>
                  <a:srgbClr val="AFE1E9"/>
                </a:solidFill>
                <a:latin typeface="Instrument Serif"/>
              </a:rPr>
              <a:t>o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n</a:t>
            </a:r>
            <a:r>
              <a:rPr sz="2200" b="0" i="0">
                <a:solidFill>
                  <a:srgbClr val="A8E0EA"/>
                </a:solidFill>
                <a:latin typeface="Instrument Serif"/>
              </a:rPr>
              <a:t> </a:t>
            </a:r>
            <a:r>
              <a:rPr sz="1000" b="0" i="0" spc="220">
                <a:solidFill>
                  <a:srgbClr val="A8E0EA"/>
                </a:solidFill>
                <a:latin typeface="IBM Plex Mono"/>
              </a:rPr>
              <a:t>ANALYTICS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2286000"/>
            <a:ext cx="1463040" cy="25400"/>
          </a:xfrm>
          <a:prstGeom prst="rect">
            <a:avLst/>
          </a:prstGeom>
          <a:solidFill>
            <a:srgbClr val="FF6A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560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</a:pPr>
            <a:r>
              <a:rPr sz="5600" b="0" i="0">
                <a:solidFill>
                  <a:srgbClr val="F4EFE3"/>
                </a:solidFill>
                <a:latin typeface="Instrument Serif"/>
              </a:rPr>
              <a:t>Tell us what you're
</a:t>
            </a:r>
            <a:r>
              <a:rPr sz="5600" b="0" i="1">
                <a:solidFill>
                  <a:srgbClr val="FF6A2B"/>
                </a:solidFill>
                <a:latin typeface="Instrument Serif"/>
              </a:rPr>
              <a:t>working on</a:t>
            </a:r>
            <a:r>
              <a:rPr sz="5600" b="0" i="0">
                <a:solidFill>
                  <a:srgbClr val="F4EFE3"/>
                </a:solidFill>
                <a:latin typeface="Instrument Serif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93776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F4EFE3"/>
                </a:solidFill>
                <a:latin typeface="IBM Plex Sans"/>
              </a:rPr>
              <a:t>Giles Fearon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8E0EA"/>
                </a:solidFill>
                <a:latin typeface="IBM Plex Mono"/>
              </a:rPr>
              <a:t>giles@oceanmotionanalytics.com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8A94A2"/>
                </a:solidFill>
                <a:latin typeface="IBM Plex Mono"/>
              </a:rPr>
              <a:t>oceanmotionanalytics.com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strument Serif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BM Plex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